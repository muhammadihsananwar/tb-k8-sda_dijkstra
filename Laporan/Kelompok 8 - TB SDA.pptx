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70" r:id="rId9"/>
    <p:sldId id="269" r:id="rId10"/>
    <p:sldId id="263" r:id="rId11"/>
    <p:sldId id="268" r:id="rId12"/>
    <p:sldId id="264" r:id="rId13"/>
    <p:sldId id="267" r:id="rId14"/>
    <p:sldId id="265" r:id="rId15"/>
    <p:sldId id="266" r:id="rId16"/>
    <p:sldId id="271" r:id="rId17"/>
    <p:sldId id="272" r:id="rId18"/>
    <p:sldId id="273" r:id="rId19"/>
  </p:sldIdLst>
  <p:sldSz cx="18288000" cy="10287000"/>
  <p:notesSz cx="6858000" cy="9144000"/>
  <p:embeddedFontLst>
    <p:embeddedFont>
      <p:font typeface="Gulfs Display" panose="020B0604020202020204" charset="0"/>
      <p:regular r:id="rId20"/>
    </p:embeddedFont>
    <p:embeddedFont>
      <p:font typeface="Lexend Deca"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97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Freeform 2"/>
          <p:cNvSpPr/>
          <p:nvPr/>
        </p:nvSpPr>
        <p:spPr>
          <a:xfrm rot="1290805">
            <a:off x="2078872" y="8717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3" name="Freeform 3"/>
          <p:cNvSpPr/>
          <p:nvPr/>
        </p:nvSpPr>
        <p:spPr>
          <a:xfrm rot="-1377331">
            <a:off x="2050535" y="5883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4" name="TextBox 4"/>
          <p:cNvSpPr txBox="1"/>
          <p:nvPr/>
        </p:nvSpPr>
        <p:spPr>
          <a:xfrm>
            <a:off x="2816131" y="2432284"/>
            <a:ext cx="12655738" cy="2177816"/>
          </a:xfrm>
          <a:prstGeom prst="rect">
            <a:avLst/>
          </a:prstGeom>
        </p:spPr>
        <p:txBody>
          <a:bodyPr lIns="0" tIns="0" rIns="0" bIns="0" rtlCol="0" anchor="t">
            <a:spAutoFit/>
          </a:bodyPr>
          <a:lstStyle/>
          <a:p>
            <a:pPr algn="ctr">
              <a:lnSpc>
                <a:spcPts val="8093"/>
              </a:lnSpc>
            </a:pPr>
            <a:r>
              <a:rPr lang="en-US" sz="10116" dirty="0">
                <a:solidFill>
                  <a:srgbClr val="A7C5E1"/>
                </a:solidFill>
                <a:latin typeface="Gulfs Display"/>
                <a:ea typeface="Gulfs Display"/>
                <a:cs typeface="Gulfs Display"/>
                <a:sym typeface="Gulfs Display"/>
              </a:rPr>
              <a:t>IMPLEMENTASI SHORTEST PATH</a:t>
            </a:r>
          </a:p>
        </p:txBody>
      </p:sp>
      <p:sp>
        <p:nvSpPr>
          <p:cNvPr id="5" name="AutoShape 5"/>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6" name="AutoShape 6"/>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7" name="AutoShape 7"/>
          <p:cNvSpPr/>
          <p:nvPr/>
        </p:nvSpPr>
        <p:spPr>
          <a:xfrm>
            <a:off x="1028700" y="8381490"/>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8" name="AutoShape 8"/>
          <p:cNvSpPr/>
          <p:nvPr/>
        </p:nvSpPr>
        <p:spPr>
          <a:xfrm>
            <a:off x="1028700" y="9239250"/>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9" name="Freeform 9"/>
          <p:cNvSpPr/>
          <p:nvPr/>
        </p:nvSpPr>
        <p:spPr>
          <a:xfrm>
            <a:off x="8366863" y="6515100"/>
            <a:ext cx="1554273" cy="1554273"/>
          </a:xfrm>
          <a:custGeom>
            <a:avLst/>
            <a:gdLst/>
            <a:ahLst/>
            <a:cxnLst/>
            <a:rect l="l" t="t" r="r" b="b"/>
            <a:pathLst>
              <a:path w="1554273" h="1554273">
                <a:moveTo>
                  <a:pt x="0" y="0"/>
                </a:moveTo>
                <a:lnTo>
                  <a:pt x="1554274" y="0"/>
                </a:lnTo>
                <a:lnTo>
                  <a:pt x="1554274" y="1554273"/>
                </a:lnTo>
                <a:lnTo>
                  <a:pt x="0" y="1554273"/>
                </a:lnTo>
                <a:lnTo>
                  <a:pt x="0" y="0"/>
                </a:lnTo>
                <a:close/>
              </a:path>
            </a:pathLst>
          </a:custGeom>
          <a:blipFill>
            <a:blip r:embed="rId3"/>
            <a:stretch>
              <a:fillRect/>
            </a:stretch>
          </a:blipFill>
        </p:spPr>
        <p:txBody>
          <a:bodyPr/>
          <a:lstStyle/>
          <a:p>
            <a:endParaRPr lang="id-ID"/>
          </a:p>
        </p:txBody>
      </p:sp>
      <p:sp>
        <p:nvSpPr>
          <p:cNvPr id="10" name="TextBox 10"/>
          <p:cNvSpPr txBox="1"/>
          <p:nvPr/>
        </p:nvSpPr>
        <p:spPr>
          <a:xfrm>
            <a:off x="1439381" y="4541113"/>
            <a:ext cx="15409236" cy="2855941"/>
          </a:xfrm>
          <a:prstGeom prst="rect">
            <a:avLst/>
          </a:prstGeom>
        </p:spPr>
        <p:txBody>
          <a:bodyPr lIns="0" tIns="0" rIns="0" bIns="0" rtlCol="0" anchor="t">
            <a:spAutoFit/>
          </a:bodyPr>
          <a:lstStyle/>
          <a:p>
            <a:pPr algn="ctr">
              <a:lnSpc>
                <a:spcPts val="5433"/>
              </a:lnSpc>
            </a:pPr>
            <a:r>
              <a:rPr lang="en-US" sz="6792" dirty="0">
                <a:solidFill>
                  <a:srgbClr val="932C29"/>
                </a:solidFill>
                <a:latin typeface="Gulfs Display"/>
                <a:ea typeface="Gulfs Display"/>
                <a:cs typeface="Gulfs Display"/>
                <a:sym typeface="Gulfs Display"/>
              </a:rPr>
              <a:t>UNTUK OPTIMASI PENGIRIMAN PAKET ANTAR WILAYAH</a:t>
            </a:r>
          </a:p>
          <a:p>
            <a:pPr algn="ctr">
              <a:lnSpc>
                <a:spcPts val="5433"/>
              </a:lnSpc>
            </a:pPr>
            <a:endParaRPr lang="en-US" sz="6792" dirty="0">
              <a:solidFill>
                <a:srgbClr val="932C29"/>
              </a:solidFill>
              <a:latin typeface="Gulfs Display"/>
              <a:ea typeface="Gulfs Display"/>
              <a:cs typeface="Gulfs Display"/>
              <a:sym typeface="Gulfs Display"/>
            </a:endParaRPr>
          </a:p>
          <a:p>
            <a:pPr algn="ctr">
              <a:lnSpc>
                <a:spcPts val="5433"/>
              </a:lnSpc>
            </a:pPr>
            <a:endParaRPr lang="en-US" sz="6792" dirty="0">
              <a:solidFill>
                <a:srgbClr val="932C29"/>
              </a:solidFill>
              <a:latin typeface="Gulfs Display"/>
              <a:ea typeface="Gulfs Display"/>
              <a:cs typeface="Gulfs Display"/>
              <a:sym typeface="Gulfs Display"/>
            </a:endParaRPr>
          </a:p>
          <a:p>
            <a:pPr algn="ctr">
              <a:lnSpc>
                <a:spcPts val="5433"/>
              </a:lnSpc>
            </a:pPr>
            <a:endParaRPr lang="en-US" sz="6792" dirty="0">
              <a:solidFill>
                <a:srgbClr val="932C29"/>
              </a:solidFill>
              <a:latin typeface="Gulfs Display"/>
              <a:ea typeface="Gulfs Display"/>
              <a:cs typeface="Gulfs Display"/>
              <a:sym typeface="Gulfs Display"/>
            </a:endParaRPr>
          </a:p>
          <a:p>
            <a:pPr algn="ctr">
              <a:lnSpc>
                <a:spcPts val="5433"/>
              </a:lnSpc>
            </a:pPr>
            <a:endParaRPr lang="en-US" sz="6792" dirty="0">
              <a:solidFill>
                <a:srgbClr val="932C29"/>
              </a:solidFill>
              <a:latin typeface="Gulfs Display"/>
              <a:ea typeface="Gulfs Display"/>
              <a:cs typeface="Gulfs Display"/>
              <a:sym typeface="Gulfs Display"/>
            </a:endParaRPr>
          </a:p>
        </p:txBody>
      </p:sp>
      <p:sp>
        <p:nvSpPr>
          <p:cNvPr id="11" name="TextBox 11"/>
          <p:cNvSpPr txBox="1"/>
          <p:nvPr/>
        </p:nvSpPr>
        <p:spPr>
          <a:xfrm>
            <a:off x="1028700" y="8575439"/>
            <a:ext cx="4800538" cy="422274"/>
          </a:xfrm>
          <a:prstGeom prst="rect">
            <a:avLst/>
          </a:prstGeom>
        </p:spPr>
        <p:txBody>
          <a:bodyPr lIns="0" tIns="0" rIns="0" bIns="0" rtlCol="0" anchor="t">
            <a:spAutoFit/>
          </a:bodyPr>
          <a:lstStyle/>
          <a:p>
            <a:pPr algn="l">
              <a:lnSpc>
                <a:spcPts val="3500"/>
              </a:lnSpc>
            </a:pPr>
            <a:r>
              <a:rPr lang="en-US" sz="2500">
                <a:solidFill>
                  <a:srgbClr val="000000"/>
                </a:solidFill>
                <a:latin typeface="Lexend Deca"/>
                <a:ea typeface="Lexend Deca"/>
                <a:cs typeface="Lexend Deca"/>
                <a:sym typeface="Lexend Deca"/>
              </a:rPr>
              <a:t>OLEH :</a:t>
            </a:r>
          </a:p>
        </p:txBody>
      </p:sp>
      <p:sp>
        <p:nvSpPr>
          <p:cNvPr id="12" name="TextBox 12"/>
          <p:cNvSpPr txBox="1"/>
          <p:nvPr/>
        </p:nvSpPr>
        <p:spPr>
          <a:xfrm>
            <a:off x="13575026" y="8476668"/>
            <a:ext cx="3684274" cy="610253"/>
          </a:xfrm>
          <a:prstGeom prst="rect">
            <a:avLst/>
          </a:prstGeom>
        </p:spPr>
        <p:txBody>
          <a:bodyPr lIns="0" tIns="0" rIns="0" bIns="0" rtlCol="0" anchor="t">
            <a:spAutoFit/>
          </a:bodyPr>
          <a:lstStyle/>
          <a:p>
            <a:pPr algn="r">
              <a:lnSpc>
                <a:spcPts val="5081"/>
              </a:lnSpc>
            </a:pPr>
            <a:r>
              <a:rPr lang="en-US" sz="3629">
                <a:solidFill>
                  <a:srgbClr val="000000"/>
                </a:solidFill>
                <a:latin typeface="Lexend Deca"/>
                <a:ea typeface="Lexend Deca"/>
                <a:cs typeface="Lexend Deca"/>
                <a:sym typeface="Lexend Deca"/>
              </a:rPr>
              <a:t>Kelompok 8</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Freeform 2"/>
          <p:cNvSpPr/>
          <p:nvPr/>
        </p:nvSpPr>
        <p:spPr>
          <a:xfrm rot="4186344">
            <a:off x="-320928" y="3351424"/>
            <a:ext cx="4244988" cy="4244988"/>
          </a:xfrm>
          <a:custGeom>
            <a:avLst/>
            <a:gdLst/>
            <a:ahLst/>
            <a:cxnLst/>
            <a:rect l="l" t="t" r="r" b="b"/>
            <a:pathLst>
              <a:path w="4244988" h="4244988">
                <a:moveTo>
                  <a:pt x="0" y="0"/>
                </a:moveTo>
                <a:lnTo>
                  <a:pt x="4244987" y="0"/>
                </a:lnTo>
                <a:lnTo>
                  <a:pt x="4244987" y="4244988"/>
                </a:lnTo>
                <a:lnTo>
                  <a:pt x="0" y="42449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3" name="TextBox 3"/>
          <p:cNvSpPr txBox="1"/>
          <p:nvPr/>
        </p:nvSpPr>
        <p:spPr>
          <a:xfrm>
            <a:off x="1801565" y="2219835"/>
            <a:ext cx="6713139" cy="1880439"/>
          </a:xfrm>
          <a:prstGeom prst="rect">
            <a:avLst/>
          </a:prstGeom>
        </p:spPr>
        <p:txBody>
          <a:bodyPr lIns="0" tIns="0" rIns="0" bIns="0" rtlCol="0" anchor="t">
            <a:spAutoFit/>
          </a:bodyPr>
          <a:lstStyle/>
          <a:p>
            <a:pPr algn="l">
              <a:lnSpc>
                <a:spcPts val="6952"/>
              </a:lnSpc>
            </a:pPr>
            <a:r>
              <a:rPr lang="en-US" sz="8691">
                <a:solidFill>
                  <a:srgbClr val="932C29"/>
                </a:solidFill>
                <a:latin typeface="Gulfs Display"/>
                <a:ea typeface="Gulfs Display"/>
                <a:cs typeface="Gulfs Display"/>
                <a:sym typeface="Gulfs Display"/>
              </a:rPr>
              <a:t>Anggota kelompok 8</a:t>
            </a:r>
          </a:p>
        </p:txBody>
      </p:sp>
      <p:sp>
        <p:nvSpPr>
          <p:cNvPr id="4" name="AutoShape 4"/>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5" name="AutoShape 5"/>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6" name="TextBox 6"/>
          <p:cNvSpPr txBox="1"/>
          <p:nvPr/>
        </p:nvSpPr>
        <p:spPr>
          <a:xfrm>
            <a:off x="15068394" y="1235623"/>
            <a:ext cx="2190906" cy="422237"/>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01</a:t>
            </a:r>
          </a:p>
        </p:txBody>
      </p:sp>
      <p:sp>
        <p:nvSpPr>
          <p:cNvPr id="7" name="TextBox 7"/>
          <p:cNvSpPr txBox="1"/>
          <p:nvPr/>
        </p:nvSpPr>
        <p:spPr>
          <a:xfrm>
            <a:off x="3232045" y="4447987"/>
            <a:ext cx="8709332"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a:solidFill>
                  <a:srgbClr val="932C29"/>
                </a:solidFill>
                <a:latin typeface="Gulfs Display"/>
                <a:ea typeface="Gulfs Display"/>
                <a:cs typeface="Gulfs Display"/>
                <a:sym typeface="Gulfs Display"/>
              </a:rPr>
              <a:t>Sina Mahdi Sitanggang</a:t>
            </a:r>
          </a:p>
        </p:txBody>
      </p:sp>
      <p:sp>
        <p:nvSpPr>
          <p:cNvPr id="8" name="TextBox 8"/>
          <p:cNvSpPr txBox="1"/>
          <p:nvPr/>
        </p:nvSpPr>
        <p:spPr>
          <a:xfrm>
            <a:off x="3283097" y="5305425"/>
            <a:ext cx="9259925"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a:solidFill>
                  <a:srgbClr val="932C29"/>
                </a:solidFill>
                <a:latin typeface="Gulfs Display"/>
                <a:ea typeface="Gulfs Display"/>
                <a:cs typeface="Gulfs Display"/>
                <a:sym typeface="Gulfs Display"/>
              </a:rPr>
              <a:t>Muhammad Ihsan Anwar</a:t>
            </a:r>
          </a:p>
        </p:txBody>
      </p:sp>
      <p:sp>
        <p:nvSpPr>
          <p:cNvPr id="9" name="TextBox 9"/>
          <p:cNvSpPr txBox="1"/>
          <p:nvPr/>
        </p:nvSpPr>
        <p:spPr>
          <a:xfrm>
            <a:off x="3283097" y="6080731"/>
            <a:ext cx="8709332"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a:solidFill>
                  <a:srgbClr val="932C29"/>
                </a:solidFill>
                <a:latin typeface="Gulfs Display"/>
                <a:ea typeface="Gulfs Display"/>
                <a:cs typeface="Gulfs Display"/>
                <a:sym typeface="Gulfs Display"/>
              </a:rPr>
              <a:t>Muhammad Azkha Amorie</a:t>
            </a:r>
          </a:p>
        </p:txBody>
      </p:sp>
      <p:sp>
        <p:nvSpPr>
          <p:cNvPr id="10" name="TextBox 10"/>
          <p:cNvSpPr txBox="1"/>
          <p:nvPr/>
        </p:nvSpPr>
        <p:spPr>
          <a:xfrm>
            <a:off x="3283097" y="6857155"/>
            <a:ext cx="8056634"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a:solidFill>
                  <a:srgbClr val="932C29"/>
                </a:solidFill>
                <a:latin typeface="Gulfs Display"/>
                <a:ea typeface="Gulfs Display"/>
                <a:cs typeface="Gulfs Display"/>
                <a:sym typeface="Gulfs Display"/>
              </a:rPr>
              <a:t>Fadila Lisma Sari</a:t>
            </a:r>
          </a:p>
        </p:txBody>
      </p:sp>
      <p:sp>
        <p:nvSpPr>
          <p:cNvPr id="11" name="TextBox 11"/>
          <p:cNvSpPr txBox="1"/>
          <p:nvPr/>
        </p:nvSpPr>
        <p:spPr>
          <a:xfrm>
            <a:off x="3283097" y="7719305"/>
            <a:ext cx="8056634"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a:solidFill>
                  <a:srgbClr val="932C29"/>
                </a:solidFill>
                <a:latin typeface="Gulfs Display"/>
                <a:ea typeface="Gulfs Display"/>
                <a:cs typeface="Gulfs Display"/>
                <a:sym typeface="Gulfs Display"/>
              </a:rPr>
              <a:t>Qairsya Naurel Ein Yaliki</a:t>
            </a:r>
          </a:p>
        </p:txBody>
      </p:sp>
      <p:sp>
        <p:nvSpPr>
          <p:cNvPr id="12" name="TextBox 12"/>
          <p:cNvSpPr txBox="1"/>
          <p:nvPr/>
        </p:nvSpPr>
        <p:spPr>
          <a:xfrm>
            <a:off x="3283097" y="8495729"/>
            <a:ext cx="8056634"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a:solidFill>
                  <a:srgbClr val="932C29"/>
                </a:solidFill>
                <a:latin typeface="Gulfs Display"/>
                <a:ea typeface="Gulfs Display"/>
                <a:cs typeface="Gulfs Display"/>
                <a:sym typeface="Gulfs Display"/>
              </a:rPr>
              <a:t>Syifa Nazira </a:t>
            </a:r>
          </a:p>
        </p:txBody>
      </p:sp>
      <p:sp>
        <p:nvSpPr>
          <p:cNvPr id="13" name="Freeform 13"/>
          <p:cNvSpPr/>
          <p:nvPr/>
        </p:nvSpPr>
        <p:spPr>
          <a:xfrm rot="5197557">
            <a:off x="-320928" y="3323871"/>
            <a:ext cx="4244988" cy="4244988"/>
          </a:xfrm>
          <a:custGeom>
            <a:avLst/>
            <a:gdLst/>
            <a:ahLst/>
            <a:cxnLst/>
            <a:rect l="l" t="t" r="r" b="b"/>
            <a:pathLst>
              <a:path w="4244988" h="4244988">
                <a:moveTo>
                  <a:pt x="0" y="0"/>
                </a:moveTo>
                <a:lnTo>
                  <a:pt x="4244987" y="0"/>
                </a:lnTo>
                <a:lnTo>
                  <a:pt x="4244987" y="4244987"/>
                </a:lnTo>
                <a:lnTo>
                  <a:pt x="0" y="424498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14" name="TextBox 14"/>
          <p:cNvSpPr txBox="1"/>
          <p:nvPr/>
        </p:nvSpPr>
        <p:spPr>
          <a:xfrm>
            <a:off x="11992429" y="4524504"/>
            <a:ext cx="5158421" cy="299541"/>
          </a:xfrm>
          <a:prstGeom prst="rect">
            <a:avLst/>
          </a:prstGeom>
        </p:spPr>
        <p:txBody>
          <a:bodyPr lIns="0" tIns="0" rIns="0" bIns="0" rtlCol="0" anchor="t">
            <a:spAutoFit/>
          </a:bodyPr>
          <a:lstStyle/>
          <a:p>
            <a:pPr marL="584870" lvl="1" indent="-292435" algn="l">
              <a:lnSpc>
                <a:spcPts val="2167"/>
              </a:lnSpc>
              <a:buFont typeface="Arial"/>
              <a:buChar char="•"/>
            </a:pPr>
            <a:r>
              <a:rPr lang="en-US" sz="2708">
                <a:solidFill>
                  <a:srgbClr val="000000"/>
                </a:solidFill>
                <a:latin typeface="Gulfs Display"/>
                <a:ea typeface="Gulfs Display"/>
                <a:cs typeface="Gulfs Display"/>
                <a:sym typeface="Gulfs Display"/>
              </a:rPr>
              <a:t>251402008</a:t>
            </a:r>
          </a:p>
        </p:txBody>
      </p:sp>
      <p:sp>
        <p:nvSpPr>
          <p:cNvPr id="15" name="TextBox 15"/>
          <p:cNvSpPr txBox="1"/>
          <p:nvPr/>
        </p:nvSpPr>
        <p:spPr>
          <a:xfrm>
            <a:off x="11992429" y="5381941"/>
            <a:ext cx="5158421" cy="299541"/>
          </a:xfrm>
          <a:prstGeom prst="rect">
            <a:avLst/>
          </a:prstGeom>
        </p:spPr>
        <p:txBody>
          <a:bodyPr lIns="0" tIns="0" rIns="0" bIns="0" rtlCol="0" anchor="t">
            <a:spAutoFit/>
          </a:bodyPr>
          <a:lstStyle/>
          <a:p>
            <a:pPr marL="584870" lvl="1" indent="-292435" algn="l">
              <a:lnSpc>
                <a:spcPts val="2167"/>
              </a:lnSpc>
              <a:buFont typeface="Arial"/>
              <a:buChar char="•"/>
            </a:pPr>
            <a:r>
              <a:rPr lang="en-US" sz="2708">
                <a:solidFill>
                  <a:srgbClr val="000000"/>
                </a:solidFill>
                <a:latin typeface="Gulfs Display"/>
                <a:ea typeface="Gulfs Display"/>
                <a:cs typeface="Gulfs Display"/>
                <a:sym typeface="Gulfs Display"/>
              </a:rPr>
              <a:t>251402044</a:t>
            </a:r>
          </a:p>
        </p:txBody>
      </p:sp>
      <p:sp>
        <p:nvSpPr>
          <p:cNvPr id="16" name="TextBox 16"/>
          <p:cNvSpPr txBox="1"/>
          <p:nvPr/>
        </p:nvSpPr>
        <p:spPr>
          <a:xfrm>
            <a:off x="11992429" y="6158049"/>
            <a:ext cx="5158421" cy="299541"/>
          </a:xfrm>
          <a:prstGeom prst="rect">
            <a:avLst/>
          </a:prstGeom>
        </p:spPr>
        <p:txBody>
          <a:bodyPr lIns="0" tIns="0" rIns="0" bIns="0" rtlCol="0" anchor="t">
            <a:spAutoFit/>
          </a:bodyPr>
          <a:lstStyle/>
          <a:p>
            <a:pPr marL="584870" lvl="1" indent="-292435" algn="l">
              <a:lnSpc>
                <a:spcPts val="2167"/>
              </a:lnSpc>
              <a:buFont typeface="Arial"/>
              <a:buChar char="•"/>
            </a:pPr>
            <a:r>
              <a:rPr lang="en-US" sz="2708">
                <a:solidFill>
                  <a:srgbClr val="000000"/>
                </a:solidFill>
                <a:latin typeface="Gulfs Display"/>
                <a:ea typeface="Gulfs Display"/>
                <a:cs typeface="Gulfs Display"/>
                <a:sym typeface="Gulfs Display"/>
              </a:rPr>
              <a:t>251402092</a:t>
            </a:r>
          </a:p>
        </p:txBody>
      </p:sp>
      <p:sp>
        <p:nvSpPr>
          <p:cNvPr id="17" name="TextBox 17"/>
          <p:cNvSpPr txBox="1"/>
          <p:nvPr/>
        </p:nvSpPr>
        <p:spPr>
          <a:xfrm>
            <a:off x="11992429" y="7019080"/>
            <a:ext cx="5158421" cy="299541"/>
          </a:xfrm>
          <a:prstGeom prst="rect">
            <a:avLst/>
          </a:prstGeom>
        </p:spPr>
        <p:txBody>
          <a:bodyPr lIns="0" tIns="0" rIns="0" bIns="0" rtlCol="0" anchor="t">
            <a:spAutoFit/>
          </a:bodyPr>
          <a:lstStyle/>
          <a:p>
            <a:pPr marL="584870" lvl="1" indent="-292435" algn="l">
              <a:lnSpc>
                <a:spcPts val="2167"/>
              </a:lnSpc>
              <a:buFont typeface="Arial"/>
              <a:buChar char="•"/>
            </a:pPr>
            <a:r>
              <a:rPr lang="en-US" sz="2708">
                <a:solidFill>
                  <a:srgbClr val="000000"/>
                </a:solidFill>
                <a:latin typeface="Gulfs Display"/>
                <a:ea typeface="Gulfs Display"/>
                <a:cs typeface="Gulfs Display"/>
                <a:sym typeface="Gulfs Display"/>
              </a:rPr>
              <a:t>251402117</a:t>
            </a:r>
          </a:p>
        </p:txBody>
      </p:sp>
      <p:sp>
        <p:nvSpPr>
          <p:cNvPr id="18" name="TextBox 18"/>
          <p:cNvSpPr txBox="1"/>
          <p:nvPr/>
        </p:nvSpPr>
        <p:spPr>
          <a:xfrm>
            <a:off x="11992429" y="7794872"/>
            <a:ext cx="5158421" cy="299541"/>
          </a:xfrm>
          <a:prstGeom prst="rect">
            <a:avLst/>
          </a:prstGeom>
        </p:spPr>
        <p:txBody>
          <a:bodyPr lIns="0" tIns="0" rIns="0" bIns="0" rtlCol="0" anchor="t">
            <a:spAutoFit/>
          </a:bodyPr>
          <a:lstStyle/>
          <a:p>
            <a:pPr marL="584870" lvl="1" indent="-292435" algn="l">
              <a:lnSpc>
                <a:spcPts val="2167"/>
              </a:lnSpc>
              <a:buFont typeface="Arial"/>
              <a:buChar char="•"/>
            </a:pPr>
            <a:r>
              <a:rPr lang="en-US" sz="2708">
                <a:solidFill>
                  <a:srgbClr val="000000"/>
                </a:solidFill>
                <a:latin typeface="Gulfs Display"/>
                <a:ea typeface="Gulfs Display"/>
                <a:cs typeface="Gulfs Display"/>
                <a:sym typeface="Gulfs Display"/>
              </a:rPr>
              <a:t>251402120</a:t>
            </a:r>
          </a:p>
        </p:txBody>
      </p:sp>
      <p:sp>
        <p:nvSpPr>
          <p:cNvPr id="19" name="TextBox 19"/>
          <p:cNvSpPr txBox="1"/>
          <p:nvPr/>
        </p:nvSpPr>
        <p:spPr>
          <a:xfrm>
            <a:off x="11992429" y="8570663"/>
            <a:ext cx="5158421" cy="299541"/>
          </a:xfrm>
          <a:prstGeom prst="rect">
            <a:avLst/>
          </a:prstGeom>
        </p:spPr>
        <p:txBody>
          <a:bodyPr lIns="0" tIns="0" rIns="0" bIns="0" rtlCol="0" anchor="t">
            <a:spAutoFit/>
          </a:bodyPr>
          <a:lstStyle/>
          <a:p>
            <a:pPr marL="584870" lvl="1" indent="-292435" algn="l">
              <a:lnSpc>
                <a:spcPts val="2167"/>
              </a:lnSpc>
              <a:buFont typeface="Arial"/>
              <a:buChar char="•"/>
            </a:pPr>
            <a:r>
              <a:rPr lang="en-US" sz="2708">
                <a:solidFill>
                  <a:srgbClr val="000000"/>
                </a:solidFill>
                <a:latin typeface="Gulfs Display"/>
                <a:ea typeface="Gulfs Display"/>
                <a:cs typeface="Gulfs Display"/>
                <a:sym typeface="Gulfs Display"/>
              </a:rPr>
              <a:t>251402126</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TextBox 2"/>
          <p:cNvSpPr txBox="1"/>
          <p:nvPr/>
        </p:nvSpPr>
        <p:spPr>
          <a:xfrm>
            <a:off x="546509" y="2056991"/>
            <a:ext cx="15053781" cy="999051"/>
          </a:xfrm>
          <a:prstGeom prst="rect">
            <a:avLst/>
          </a:prstGeom>
        </p:spPr>
        <p:txBody>
          <a:bodyPr lIns="0" tIns="0" rIns="0" bIns="0" rtlCol="0" anchor="t">
            <a:spAutoFit/>
          </a:bodyPr>
          <a:lstStyle/>
          <a:p>
            <a:pPr algn="l">
              <a:lnSpc>
                <a:spcPts val="6952"/>
              </a:lnSpc>
            </a:pPr>
            <a:r>
              <a:rPr lang="en-US" sz="8691">
                <a:solidFill>
                  <a:srgbClr val="932C29"/>
                </a:solidFill>
                <a:latin typeface="Gulfs Display"/>
                <a:ea typeface="Gulfs Display"/>
                <a:cs typeface="Gulfs Display"/>
                <a:sym typeface="Gulfs Display"/>
              </a:rPr>
              <a:t>Contents of Power Point</a:t>
            </a:r>
          </a:p>
        </p:txBody>
      </p:sp>
      <p:sp>
        <p:nvSpPr>
          <p:cNvPr id="3" name="Freeform 3"/>
          <p:cNvSpPr/>
          <p:nvPr/>
        </p:nvSpPr>
        <p:spPr>
          <a:xfrm rot="5197557">
            <a:off x="4611534" y="6488230"/>
            <a:ext cx="645008" cy="645008"/>
          </a:xfrm>
          <a:custGeom>
            <a:avLst/>
            <a:gdLst/>
            <a:ahLst/>
            <a:cxnLst/>
            <a:rect l="l" t="t" r="r" b="b"/>
            <a:pathLst>
              <a:path w="645008" h="645008">
                <a:moveTo>
                  <a:pt x="0" y="0"/>
                </a:moveTo>
                <a:lnTo>
                  <a:pt x="645007" y="0"/>
                </a:lnTo>
                <a:lnTo>
                  <a:pt x="645007" y="645008"/>
                </a:lnTo>
                <a:lnTo>
                  <a:pt x="0" y="645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4" name="Freeform 4"/>
          <p:cNvSpPr/>
          <p:nvPr/>
        </p:nvSpPr>
        <p:spPr>
          <a:xfrm rot="-1377331">
            <a:off x="15840098" y="1887017"/>
            <a:ext cx="1543044" cy="1543044"/>
          </a:xfrm>
          <a:custGeom>
            <a:avLst/>
            <a:gdLst/>
            <a:ahLst/>
            <a:cxnLst/>
            <a:rect l="l" t="t" r="r" b="b"/>
            <a:pathLst>
              <a:path w="1543044" h="1543044">
                <a:moveTo>
                  <a:pt x="0" y="0"/>
                </a:moveTo>
                <a:lnTo>
                  <a:pt x="1543043" y="0"/>
                </a:lnTo>
                <a:lnTo>
                  <a:pt x="1543043" y="1543043"/>
                </a:lnTo>
                <a:lnTo>
                  <a:pt x="0" y="15430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5" name="Freeform 5"/>
          <p:cNvSpPr/>
          <p:nvPr/>
        </p:nvSpPr>
        <p:spPr>
          <a:xfrm rot="-1377331">
            <a:off x="14971980" y="18639"/>
            <a:ext cx="1256621" cy="1256621"/>
          </a:xfrm>
          <a:custGeom>
            <a:avLst/>
            <a:gdLst/>
            <a:ahLst/>
            <a:cxnLst/>
            <a:rect l="l" t="t" r="r" b="b"/>
            <a:pathLst>
              <a:path w="1256621" h="1256621">
                <a:moveTo>
                  <a:pt x="0" y="0"/>
                </a:moveTo>
                <a:lnTo>
                  <a:pt x="1256620" y="0"/>
                </a:lnTo>
                <a:lnTo>
                  <a:pt x="1256620" y="1256621"/>
                </a:lnTo>
                <a:lnTo>
                  <a:pt x="0" y="12566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6" name="Freeform 6"/>
          <p:cNvSpPr/>
          <p:nvPr/>
        </p:nvSpPr>
        <p:spPr>
          <a:xfrm rot="-1377331">
            <a:off x="17115596" y="4187359"/>
            <a:ext cx="1014706" cy="1014706"/>
          </a:xfrm>
          <a:custGeom>
            <a:avLst/>
            <a:gdLst/>
            <a:ahLst/>
            <a:cxnLst/>
            <a:rect l="l" t="t" r="r" b="b"/>
            <a:pathLst>
              <a:path w="1014706" h="1014706">
                <a:moveTo>
                  <a:pt x="0" y="0"/>
                </a:moveTo>
                <a:lnTo>
                  <a:pt x="1014706" y="0"/>
                </a:lnTo>
                <a:lnTo>
                  <a:pt x="1014706" y="1014707"/>
                </a:lnTo>
                <a:lnTo>
                  <a:pt x="0" y="101470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7" name="Freeform 7"/>
          <p:cNvSpPr/>
          <p:nvPr/>
        </p:nvSpPr>
        <p:spPr>
          <a:xfrm rot="5197557">
            <a:off x="4611534" y="4041485"/>
            <a:ext cx="645008" cy="645008"/>
          </a:xfrm>
          <a:custGeom>
            <a:avLst/>
            <a:gdLst/>
            <a:ahLst/>
            <a:cxnLst/>
            <a:rect l="l" t="t" r="r" b="b"/>
            <a:pathLst>
              <a:path w="645008" h="645008">
                <a:moveTo>
                  <a:pt x="0" y="0"/>
                </a:moveTo>
                <a:lnTo>
                  <a:pt x="645007" y="0"/>
                </a:lnTo>
                <a:lnTo>
                  <a:pt x="645007" y="645007"/>
                </a:lnTo>
                <a:lnTo>
                  <a:pt x="0" y="64500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8" name="Freeform 8"/>
          <p:cNvSpPr/>
          <p:nvPr/>
        </p:nvSpPr>
        <p:spPr>
          <a:xfrm rot="5197557">
            <a:off x="4611534" y="5367603"/>
            <a:ext cx="645008" cy="645008"/>
          </a:xfrm>
          <a:custGeom>
            <a:avLst/>
            <a:gdLst/>
            <a:ahLst/>
            <a:cxnLst/>
            <a:rect l="l" t="t" r="r" b="b"/>
            <a:pathLst>
              <a:path w="645008" h="645008">
                <a:moveTo>
                  <a:pt x="0" y="0"/>
                </a:moveTo>
                <a:lnTo>
                  <a:pt x="645007" y="0"/>
                </a:lnTo>
                <a:lnTo>
                  <a:pt x="645007" y="645008"/>
                </a:lnTo>
                <a:lnTo>
                  <a:pt x="0" y="645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9" name="TextBox 9"/>
          <p:cNvSpPr txBox="1"/>
          <p:nvPr/>
        </p:nvSpPr>
        <p:spPr>
          <a:xfrm>
            <a:off x="4299867" y="4184988"/>
            <a:ext cx="8709332"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dirty="0" err="1">
                <a:solidFill>
                  <a:srgbClr val="932C29"/>
                </a:solidFill>
                <a:latin typeface="Gulfs Display"/>
                <a:ea typeface="Gulfs Display"/>
                <a:cs typeface="Gulfs Display"/>
                <a:sym typeface="Gulfs Display"/>
              </a:rPr>
              <a:t>Analisis</a:t>
            </a:r>
            <a:r>
              <a:rPr lang="en-US" sz="4408" dirty="0">
                <a:solidFill>
                  <a:srgbClr val="932C29"/>
                </a:solidFill>
                <a:latin typeface="Gulfs Display"/>
                <a:ea typeface="Gulfs Display"/>
                <a:cs typeface="Gulfs Display"/>
                <a:sym typeface="Gulfs Display"/>
              </a:rPr>
              <a:t> dan </a:t>
            </a:r>
            <a:r>
              <a:rPr lang="en-US" sz="4408" dirty="0" err="1">
                <a:solidFill>
                  <a:srgbClr val="932C29"/>
                </a:solidFill>
                <a:latin typeface="Gulfs Display"/>
                <a:ea typeface="Gulfs Display"/>
                <a:cs typeface="Gulfs Display"/>
                <a:sym typeface="Gulfs Display"/>
              </a:rPr>
              <a:t>Perancangan</a:t>
            </a:r>
            <a:endParaRPr lang="en-US" sz="4408" dirty="0">
              <a:solidFill>
                <a:srgbClr val="932C29"/>
              </a:solidFill>
              <a:latin typeface="Gulfs Display"/>
              <a:ea typeface="Gulfs Display"/>
              <a:cs typeface="Gulfs Display"/>
              <a:sym typeface="Gulfs Display"/>
            </a:endParaRPr>
          </a:p>
        </p:txBody>
      </p:sp>
      <p:sp>
        <p:nvSpPr>
          <p:cNvPr id="10" name="TextBox 10"/>
          <p:cNvSpPr txBox="1"/>
          <p:nvPr/>
        </p:nvSpPr>
        <p:spPr>
          <a:xfrm>
            <a:off x="4299867" y="5474309"/>
            <a:ext cx="8709332"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a:solidFill>
                  <a:srgbClr val="932C29"/>
                </a:solidFill>
                <a:latin typeface="Gulfs Display"/>
                <a:ea typeface="Gulfs Display"/>
                <a:cs typeface="Gulfs Display"/>
                <a:sym typeface="Gulfs Display"/>
              </a:rPr>
              <a:t>Implementasi</a:t>
            </a:r>
          </a:p>
        </p:txBody>
      </p:sp>
      <p:sp>
        <p:nvSpPr>
          <p:cNvPr id="11" name="TextBox 11"/>
          <p:cNvSpPr txBox="1"/>
          <p:nvPr/>
        </p:nvSpPr>
        <p:spPr>
          <a:xfrm>
            <a:off x="4299867" y="6631733"/>
            <a:ext cx="8709332"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a:solidFill>
                  <a:srgbClr val="932C29"/>
                </a:solidFill>
                <a:latin typeface="Gulfs Display"/>
                <a:ea typeface="Gulfs Display"/>
                <a:cs typeface="Gulfs Display"/>
                <a:sym typeface="Gulfs Display"/>
              </a:rPr>
              <a:t>Pengujian Program</a:t>
            </a:r>
          </a:p>
        </p:txBody>
      </p:sp>
      <p:sp>
        <p:nvSpPr>
          <p:cNvPr id="12" name="Freeform 12"/>
          <p:cNvSpPr/>
          <p:nvPr/>
        </p:nvSpPr>
        <p:spPr>
          <a:xfrm rot="5197557">
            <a:off x="4611534" y="7557278"/>
            <a:ext cx="645008" cy="645008"/>
          </a:xfrm>
          <a:custGeom>
            <a:avLst/>
            <a:gdLst/>
            <a:ahLst/>
            <a:cxnLst/>
            <a:rect l="l" t="t" r="r" b="b"/>
            <a:pathLst>
              <a:path w="645008" h="645008">
                <a:moveTo>
                  <a:pt x="0" y="0"/>
                </a:moveTo>
                <a:lnTo>
                  <a:pt x="645007" y="0"/>
                </a:lnTo>
                <a:lnTo>
                  <a:pt x="645007" y="645008"/>
                </a:lnTo>
                <a:lnTo>
                  <a:pt x="0" y="6450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13" name="TextBox 13"/>
          <p:cNvSpPr txBox="1"/>
          <p:nvPr/>
        </p:nvSpPr>
        <p:spPr>
          <a:xfrm>
            <a:off x="4299867" y="7700782"/>
            <a:ext cx="8709332" cy="509724"/>
          </a:xfrm>
          <a:prstGeom prst="rect">
            <a:avLst/>
          </a:prstGeom>
        </p:spPr>
        <p:txBody>
          <a:bodyPr lIns="0" tIns="0" rIns="0" bIns="0" rtlCol="0" anchor="t">
            <a:spAutoFit/>
          </a:bodyPr>
          <a:lstStyle/>
          <a:p>
            <a:pPr marL="951891" lvl="1" indent="-475945" algn="l">
              <a:lnSpc>
                <a:spcPts val="3527"/>
              </a:lnSpc>
              <a:buFont typeface="Arial"/>
              <a:buChar char="•"/>
            </a:pPr>
            <a:r>
              <a:rPr lang="en-US" sz="4408">
                <a:solidFill>
                  <a:srgbClr val="932C29"/>
                </a:solidFill>
                <a:latin typeface="Gulfs Display"/>
                <a:ea typeface="Gulfs Display"/>
                <a:cs typeface="Gulfs Display"/>
                <a:sym typeface="Gulfs Display"/>
              </a:rPr>
              <a:t>Kesimpulan</a:t>
            </a:r>
          </a:p>
        </p:txBody>
      </p:sp>
      <p:sp>
        <p:nvSpPr>
          <p:cNvPr id="14" name="Freeform 14"/>
          <p:cNvSpPr/>
          <p:nvPr/>
        </p:nvSpPr>
        <p:spPr>
          <a:xfrm rot="-1377331">
            <a:off x="245034" y="2940000"/>
            <a:ext cx="3509426" cy="3509426"/>
          </a:xfrm>
          <a:custGeom>
            <a:avLst/>
            <a:gdLst/>
            <a:ahLst/>
            <a:cxnLst/>
            <a:rect l="l" t="t" r="r" b="b"/>
            <a:pathLst>
              <a:path w="3509426" h="3509426">
                <a:moveTo>
                  <a:pt x="0" y="0"/>
                </a:moveTo>
                <a:lnTo>
                  <a:pt x="3509426" y="0"/>
                </a:lnTo>
                <a:lnTo>
                  <a:pt x="3509426" y="3509425"/>
                </a:lnTo>
                <a:lnTo>
                  <a:pt x="0" y="35094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15" name="Freeform 15"/>
          <p:cNvSpPr/>
          <p:nvPr/>
        </p:nvSpPr>
        <p:spPr>
          <a:xfrm rot="1290805">
            <a:off x="215690" y="2910656"/>
            <a:ext cx="3474585" cy="3474585"/>
          </a:xfrm>
          <a:custGeom>
            <a:avLst/>
            <a:gdLst/>
            <a:ahLst/>
            <a:cxnLst/>
            <a:rect l="l" t="t" r="r" b="b"/>
            <a:pathLst>
              <a:path w="3474585" h="3474585">
                <a:moveTo>
                  <a:pt x="0" y="0"/>
                </a:moveTo>
                <a:lnTo>
                  <a:pt x="3474585" y="0"/>
                </a:lnTo>
                <a:lnTo>
                  <a:pt x="3474585" y="3474585"/>
                </a:lnTo>
                <a:lnTo>
                  <a:pt x="0" y="347458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16" name="AutoShape 16"/>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17" name="AutoShape 17"/>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18" name="TextBox 18"/>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02</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AutoShape 2"/>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3" name="AutoShape 3"/>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4" name="Freeform 4"/>
          <p:cNvSpPr/>
          <p:nvPr/>
        </p:nvSpPr>
        <p:spPr>
          <a:xfrm>
            <a:off x="-208523" y="16578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5" name="Freeform 5"/>
          <p:cNvSpPr/>
          <p:nvPr/>
        </p:nvSpPr>
        <p:spPr>
          <a:xfrm>
            <a:off x="12243602" y="2333848"/>
            <a:ext cx="4367998" cy="6877623"/>
          </a:xfrm>
          <a:custGeom>
            <a:avLst/>
            <a:gdLst/>
            <a:ahLst/>
            <a:cxnLst/>
            <a:rect l="l" t="t" r="r" b="b"/>
            <a:pathLst>
              <a:path w="3920245" h="6877623">
                <a:moveTo>
                  <a:pt x="0" y="0"/>
                </a:moveTo>
                <a:lnTo>
                  <a:pt x="3920245" y="0"/>
                </a:lnTo>
                <a:lnTo>
                  <a:pt x="3920245" y="6877623"/>
                </a:lnTo>
                <a:lnTo>
                  <a:pt x="0" y="6877623"/>
                </a:lnTo>
                <a:lnTo>
                  <a:pt x="0" y="0"/>
                </a:lnTo>
                <a:close/>
              </a:path>
            </a:pathLst>
          </a:custGeom>
          <a:blipFill>
            <a:blip r:embed="rId3"/>
            <a:stretch>
              <a:fillRect/>
            </a:stretch>
          </a:blipFill>
        </p:spPr>
        <p:txBody>
          <a:bodyPr/>
          <a:lstStyle/>
          <a:p>
            <a:endParaRPr lang="id-ID"/>
          </a:p>
        </p:txBody>
      </p:sp>
      <p:sp>
        <p:nvSpPr>
          <p:cNvPr id="6" name="TextBox 6"/>
          <p:cNvSpPr txBox="1"/>
          <p:nvPr/>
        </p:nvSpPr>
        <p:spPr>
          <a:xfrm>
            <a:off x="2849067" y="1981710"/>
            <a:ext cx="13081464" cy="1770741"/>
          </a:xfrm>
          <a:prstGeom prst="rect">
            <a:avLst/>
          </a:prstGeom>
        </p:spPr>
        <p:txBody>
          <a:bodyPr lIns="0" tIns="0" rIns="0" bIns="0" rtlCol="0" anchor="t">
            <a:spAutoFit/>
          </a:bodyPr>
          <a:lstStyle/>
          <a:p>
            <a:pPr algn="l">
              <a:lnSpc>
                <a:spcPts val="6932"/>
              </a:lnSpc>
            </a:pPr>
            <a:r>
              <a:rPr lang="en-US" sz="8666" dirty="0" err="1">
                <a:solidFill>
                  <a:srgbClr val="932C29"/>
                </a:solidFill>
                <a:latin typeface="Gulfs Display"/>
                <a:ea typeface="Gulfs Display"/>
                <a:cs typeface="Gulfs Display"/>
                <a:sym typeface="Gulfs Display"/>
              </a:rPr>
              <a:t>Analisis</a:t>
            </a:r>
            <a:r>
              <a:rPr lang="en-US" sz="8666" dirty="0">
                <a:solidFill>
                  <a:srgbClr val="932C29"/>
                </a:solidFill>
                <a:latin typeface="Gulfs Display"/>
                <a:ea typeface="Gulfs Display"/>
                <a:cs typeface="Gulfs Display"/>
                <a:sym typeface="Gulfs Display"/>
              </a:rPr>
              <a:t> dan </a:t>
            </a:r>
            <a:r>
              <a:rPr lang="en-US" sz="8666" dirty="0" err="1">
                <a:solidFill>
                  <a:srgbClr val="932C29"/>
                </a:solidFill>
                <a:latin typeface="Gulfs Display"/>
                <a:ea typeface="Gulfs Display"/>
                <a:cs typeface="Gulfs Display"/>
                <a:sym typeface="Gulfs Display"/>
              </a:rPr>
              <a:t>Perancangan</a:t>
            </a:r>
            <a:r>
              <a:rPr lang="en-US" sz="8666" dirty="0">
                <a:solidFill>
                  <a:srgbClr val="932C29"/>
                </a:solidFill>
                <a:latin typeface="Gulfs Display"/>
                <a:ea typeface="Gulfs Display"/>
                <a:cs typeface="Gulfs Display"/>
                <a:sym typeface="Gulfs Display"/>
              </a:rPr>
              <a:t> </a:t>
            </a:r>
          </a:p>
        </p:txBody>
      </p:sp>
      <p:sp>
        <p:nvSpPr>
          <p:cNvPr id="7" name="TextBox 7"/>
          <p:cNvSpPr txBox="1"/>
          <p:nvPr/>
        </p:nvSpPr>
        <p:spPr>
          <a:xfrm>
            <a:off x="15068394" y="1235623"/>
            <a:ext cx="2190906" cy="422237"/>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03</a:t>
            </a:r>
          </a:p>
        </p:txBody>
      </p:sp>
      <p:sp>
        <p:nvSpPr>
          <p:cNvPr id="8" name="TextBox 8"/>
          <p:cNvSpPr txBox="1"/>
          <p:nvPr/>
        </p:nvSpPr>
        <p:spPr>
          <a:xfrm>
            <a:off x="2849067" y="4056269"/>
            <a:ext cx="8410113" cy="5202031"/>
          </a:xfrm>
          <a:prstGeom prst="rect">
            <a:avLst/>
          </a:prstGeom>
        </p:spPr>
        <p:txBody>
          <a:bodyPr lIns="0" tIns="0" rIns="0" bIns="0" rtlCol="0" anchor="t">
            <a:spAutoFit/>
          </a:bodyPr>
          <a:lstStyle/>
          <a:p>
            <a:pPr algn="just">
              <a:lnSpc>
                <a:spcPts val="4648"/>
              </a:lnSpc>
            </a:pPr>
            <a:r>
              <a:rPr lang="en-US" sz="3320">
                <a:solidFill>
                  <a:srgbClr val="E30613"/>
                </a:solidFill>
                <a:latin typeface="Lexend Deca"/>
                <a:ea typeface="Lexend Deca"/>
                <a:cs typeface="Lexend Deca"/>
                <a:sym typeface="Lexend Deca"/>
              </a:rPr>
              <a:t>Flowchart</a:t>
            </a:r>
          </a:p>
          <a:p>
            <a:pPr algn="just">
              <a:lnSpc>
                <a:spcPts val="4648"/>
              </a:lnSpc>
            </a:pPr>
            <a:endParaRPr lang="en-US" sz="3320">
              <a:solidFill>
                <a:srgbClr val="E30613"/>
              </a:solidFill>
              <a:latin typeface="Lexend Deca"/>
              <a:ea typeface="Lexend Deca"/>
              <a:cs typeface="Lexend Deca"/>
              <a:sym typeface="Lexend Deca"/>
            </a:endParaRPr>
          </a:p>
          <a:p>
            <a:pPr algn="just">
              <a:lnSpc>
                <a:spcPts val="4648"/>
              </a:lnSpc>
            </a:pPr>
            <a:r>
              <a:rPr lang="en-US" sz="3320">
                <a:solidFill>
                  <a:srgbClr val="000000"/>
                </a:solidFill>
                <a:latin typeface="Lexend Deca"/>
                <a:ea typeface="Lexend Deca"/>
                <a:cs typeface="Lexend Deca"/>
                <a:sym typeface="Lexend Deca"/>
              </a:rPr>
              <a:t>Sistem pencarian rute terpendek untuk optimasi pengiriman paket ini dirancang menggunakan alur logis algoritma Dijkstra yang dikombinasikan dengan struktur data Priority Queue. Alur kerja dari sistem ini dapat dilihat pada gambar flowchart di samping ini:</a:t>
            </a:r>
          </a:p>
          <a:p>
            <a:pPr algn="just">
              <a:lnSpc>
                <a:spcPts val="4648"/>
              </a:lnSpc>
            </a:pPr>
            <a:endParaRPr lang="en-US" sz="3320">
              <a:solidFill>
                <a:srgbClr val="000000"/>
              </a:solidFill>
              <a:latin typeface="Lexend Deca"/>
              <a:ea typeface="Lexend Deca"/>
              <a:cs typeface="Lexend Deca"/>
              <a:sym typeface="Lexend Deca"/>
            </a:endParaRPr>
          </a:p>
          <a:p>
            <a:pPr algn="just">
              <a:lnSpc>
                <a:spcPts val="4648"/>
              </a:lnSpc>
            </a:pPr>
            <a:endParaRPr lang="en-US" sz="3320">
              <a:solidFill>
                <a:srgbClr val="000000"/>
              </a:solidFill>
              <a:latin typeface="Lexend Deca"/>
              <a:ea typeface="Lexend Deca"/>
              <a:cs typeface="Lexend Deca"/>
              <a:sym typeface="Lexend Deca"/>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Freeform 2"/>
          <p:cNvSpPr/>
          <p:nvPr/>
        </p:nvSpPr>
        <p:spPr>
          <a:xfrm>
            <a:off x="0" y="16578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3" name="TextBox 3"/>
          <p:cNvSpPr txBox="1"/>
          <p:nvPr/>
        </p:nvSpPr>
        <p:spPr>
          <a:xfrm>
            <a:off x="2539571" y="2219835"/>
            <a:ext cx="14036918" cy="885884"/>
          </a:xfrm>
          <a:prstGeom prst="rect">
            <a:avLst/>
          </a:prstGeom>
        </p:spPr>
        <p:txBody>
          <a:bodyPr lIns="0" tIns="0" rIns="0" bIns="0" rtlCol="0" anchor="t">
            <a:spAutoFit/>
          </a:bodyPr>
          <a:lstStyle/>
          <a:p>
            <a:pPr algn="l">
              <a:lnSpc>
                <a:spcPts val="6932"/>
              </a:lnSpc>
            </a:pPr>
            <a:r>
              <a:rPr lang="en-US" sz="8666" dirty="0" err="1">
                <a:solidFill>
                  <a:srgbClr val="932C29"/>
                </a:solidFill>
                <a:latin typeface="Gulfs Display"/>
                <a:ea typeface="Gulfs Display"/>
                <a:cs typeface="Gulfs Display"/>
                <a:sym typeface="Gulfs Display"/>
              </a:rPr>
              <a:t>Analisis</a:t>
            </a:r>
            <a:r>
              <a:rPr lang="en-US" sz="8666" dirty="0">
                <a:solidFill>
                  <a:srgbClr val="932C29"/>
                </a:solidFill>
                <a:latin typeface="Gulfs Display"/>
                <a:ea typeface="Gulfs Display"/>
                <a:cs typeface="Gulfs Display"/>
                <a:sym typeface="Gulfs Display"/>
              </a:rPr>
              <a:t> dan </a:t>
            </a:r>
            <a:r>
              <a:rPr lang="en-US" sz="8666" dirty="0" err="1">
                <a:solidFill>
                  <a:srgbClr val="932C29"/>
                </a:solidFill>
                <a:latin typeface="Gulfs Display"/>
                <a:ea typeface="Gulfs Display"/>
                <a:cs typeface="Gulfs Display"/>
                <a:sym typeface="Gulfs Display"/>
              </a:rPr>
              <a:t>Perancangan</a:t>
            </a:r>
            <a:r>
              <a:rPr lang="en-US" sz="8666" dirty="0">
                <a:solidFill>
                  <a:srgbClr val="932C29"/>
                </a:solidFill>
                <a:latin typeface="Gulfs Display"/>
                <a:ea typeface="Gulfs Display"/>
                <a:cs typeface="Gulfs Display"/>
                <a:sym typeface="Gulfs Display"/>
              </a:rPr>
              <a:t> </a:t>
            </a:r>
          </a:p>
        </p:txBody>
      </p:sp>
      <p:sp>
        <p:nvSpPr>
          <p:cNvPr id="4" name="TextBox 4"/>
          <p:cNvSpPr txBox="1"/>
          <p:nvPr/>
        </p:nvSpPr>
        <p:spPr>
          <a:xfrm>
            <a:off x="3066031" y="4005643"/>
            <a:ext cx="10980037" cy="2766172"/>
          </a:xfrm>
          <a:prstGeom prst="rect">
            <a:avLst/>
          </a:prstGeom>
        </p:spPr>
        <p:txBody>
          <a:bodyPr lIns="0" tIns="0" rIns="0" bIns="0" rtlCol="0" anchor="t">
            <a:spAutoFit/>
          </a:bodyPr>
          <a:lstStyle/>
          <a:p>
            <a:pPr algn="just">
              <a:lnSpc>
                <a:spcPts val="4409"/>
              </a:lnSpc>
            </a:pPr>
            <a:r>
              <a:rPr lang="en-US" sz="3149">
                <a:solidFill>
                  <a:srgbClr val="000000"/>
                </a:solidFill>
                <a:latin typeface="Lexend Deca"/>
                <a:ea typeface="Lexend Deca"/>
                <a:cs typeface="Lexend Deca"/>
                <a:sym typeface="Lexend Deca"/>
              </a:rPr>
              <a:t>Sistem optimasi pengiriman paket ini menggunakan beberapa struktur data untuk mendukung proses pencarian jalur terpendek dengan Algoritma Dijkstra, diantara nya yaitu: Graph, Array Distance, Array Parent, Priority Queue dan Vector. </a:t>
            </a:r>
          </a:p>
        </p:txBody>
      </p:sp>
      <p:sp>
        <p:nvSpPr>
          <p:cNvPr id="5" name="AutoShape 5"/>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6" name="AutoShape 6"/>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7" name="TextBox 7"/>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04</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Freeform 2"/>
          <p:cNvSpPr/>
          <p:nvPr/>
        </p:nvSpPr>
        <p:spPr>
          <a:xfrm>
            <a:off x="-208523" y="147055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3" name="AutoShape 3"/>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4" name="AutoShape 4"/>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5" name="TextBox 5"/>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05</a:t>
            </a:r>
          </a:p>
        </p:txBody>
      </p:sp>
      <p:sp>
        <p:nvSpPr>
          <p:cNvPr id="6" name="TextBox 6"/>
          <p:cNvSpPr txBox="1"/>
          <p:nvPr/>
        </p:nvSpPr>
        <p:spPr>
          <a:xfrm>
            <a:off x="2603268" y="1981710"/>
            <a:ext cx="14036918" cy="885884"/>
          </a:xfrm>
          <a:prstGeom prst="rect">
            <a:avLst/>
          </a:prstGeom>
        </p:spPr>
        <p:txBody>
          <a:bodyPr lIns="0" tIns="0" rIns="0" bIns="0" rtlCol="0" anchor="t">
            <a:spAutoFit/>
          </a:bodyPr>
          <a:lstStyle/>
          <a:p>
            <a:pPr algn="l">
              <a:lnSpc>
                <a:spcPts val="6932"/>
              </a:lnSpc>
            </a:pPr>
            <a:r>
              <a:rPr lang="en-US" sz="8666" dirty="0" err="1">
                <a:solidFill>
                  <a:srgbClr val="932C29"/>
                </a:solidFill>
                <a:latin typeface="Gulfs Display"/>
                <a:ea typeface="Gulfs Display"/>
                <a:cs typeface="Gulfs Display"/>
                <a:sym typeface="Gulfs Display"/>
              </a:rPr>
              <a:t>Analisis</a:t>
            </a:r>
            <a:r>
              <a:rPr lang="en-US" sz="8666" dirty="0">
                <a:solidFill>
                  <a:srgbClr val="932C29"/>
                </a:solidFill>
                <a:latin typeface="Gulfs Display"/>
                <a:ea typeface="Gulfs Display"/>
                <a:cs typeface="Gulfs Display"/>
                <a:sym typeface="Gulfs Display"/>
              </a:rPr>
              <a:t> dan </a:t>
            </a:r>
            <a:r>
              <a:rPr lang="en-US" sz="8666" dirty="0" err="1">
                <a:solidFill>
                  <a:srgbClr val="932C29"/>
                </a:solidFill>
                <a:latin typeface="Gulfs Display"/>
                <a:ea typeface="Gulfs Display"/>
                <a:cs typeface="Gulfs Display"/>
                <a:sym typeface="Gulfs Display"/>
              </a:rPr>
              <a:t>Perancangan</a:t>
            </a:r>
            <a:r>
              <a:rPr lang="en-US" sz="8666" dirty="0">
                <a:solidFill>
                  <a:srgbClr val="932C29"/>
                </a:solidFill>
                <a:latin typeface="Gulfs Display"/>
                <a:ea typeface="Gulfs Display"/>
                <a:cs typeface="Gulfs Display"/>
                <a:sym typeface="Gulfs Display"/>
              </a:rPr>
              <a:t> </a:t>
            </a:r>
          </a:p>
        </p:txBody>
      </p:sp>
      <p:sp>
        <p:nvSpPr>
          <p:cNvPr id="7" name="TextBox 7"/>
          <p:cNvSpPr txBox="1"/>
          <p:nvPr/>
        </p:nvSpPr>
        <p:spPr>
          <a:xfrm>
            <a:off x="3179727" y="3301170"/>
            <a:ext cx="5070903" cy="6582764"/>
          </a:xfrm>
          <a:prstGeom prst="rect">
            <a:avLst/>
          </a:prstGeom>
        </p:spPr>
        <p:txBody>
          <a:bodyPr lIns="0" tIns="0" rIns="0" bIns="0" rtlCol="0" anchor="t">
            <a:spAutoFit/>
          </a:bodyPr>
          <a:lstStyle/>
          <a:p>
            <a:pPr algn="just">
              <a:lnSpc>
                <a:spcPts val="4703"/>
              </a:lnSpc>
            </a:pPr>
            <a:r>
              <a:rPr lang="en-US" sz="3359" dirty="0">
                <a:solidFill>
                  <a:srgbClr val="000000"/>
                </a:solidFill>
                <a:latin typeface="Lexend Deca"/>
                <a:ea typeface="Lexend Deca"/>
                <a:cs typeface="Lexend Deca"/>
                <a:sym typeface="Lexend Deca"/>
              </a:rPr>
              <a:t>Adapun </a:t>
            </a:r>
            <a:r>
              <a:rPr lang="en-US" sz="3359" dirty="0" err="1">
                <a:solidFill>
                  <a:srgbClr val="000000"/>
                </a:solidFill>
                <a:latin typeface="Lexend Deca"/>
                <a:ea typeface="Lexend Deca"/>
                <a:cs typeface="Lexend Deca"/>
                <a:sym typeface="Lexend Deca"/>
              </a:rPr>
              <a:t>Pseudocodenya</a:t>
            </a:r>
            <a:r>
              <a:rPr lang="en-US" sz="3359" dirty="0">
                <a:solidFill>
                  <a:srgbClr val="000000"/>
                </a:solidFill>
                <a:latin typeface="Lexend Deca"/>
                <a:ea typeface="Lexend Deca"/>
                <a:cs typeface="Lexend Deca"/>
                <a:sym typeface="Lexend Deca"/>
              </a:rPr>
              <a:t> </a:t>
            </a:r>
            <a:r>
              <a:rPr lang="en-US" sz="3359" dirty="0" err="1">
                <a:solidFill>
                  <a:srgbClr val="000000"/>
                </a:solidFill>
                <a:latin typeface="Lexend Deca"/>
                <a:ea typeface="Lexend Deca"/>
                <a:cs typeface="Lexend Deca"/>
                <a:sym typeface="Lexend Deca"/>
              </a:rPr>
              <a:t>yaitu</a:t>
            </a:r>
            <a:r>
              <a:rPr lang="en-US" sz="3359" dirty="0">
                <a:solidFill>
                  <a:srgbClr val="000000"/>
                </a:solidFill>
                <a:latin typeface="Lexend Deca"/>
                <a:ea typeface="Lexend Deca"/>
                <a:cs typeface="Lexend Deca"/>
                <a:sym typeface="Lexend Deca"/>
              </a:rPr>
              <a:t> :</a:t>
            </a:r>
          </a:p>
          <a:p>
            <a:pPr algn="just">
              <a:lnSpc>
                <a:spcPts val="4703"/>
              </a:lnSpc>
            </a:pPr>
            <a:r>
              <a:rPr lang="en-US" sz="3359" dirty="0">
                <a:solidFill>
                  <a:srgbClr val="000000"/>
                </a:solidFill>
                <a:latin typeface="Lexend Deca"/>
                <a:ea typeface="Lexend Deca"/>
                <a:cs typeface="Lexend Deca"/>
                <a:sym typeface="Lexend Deca"/>
              </a:rPr>
              <a:t>Input :</a:t>
            </a:r>
          </a:p>
          <a:p>
            <a:pPr algn="just">
              <a:lnSpc>
                <a:spcPts val="4703"/>
              </a:lnSpc>
            </a:pPr>
            <a:r>
              <a:rPr lang="en-US" sz="3359" dirty="0">
                <a:solidFill>
                  <a:srgbClr val="000000"/>
                </a:solidFill>
                <a:latin typeface="Lexend Deca"/>
                <a:ea typeface="Lexend Deca"/>
                <a:cs typeface="Lexend Deca"/>
                <a:sym typeface="Lexend Deca"/>
              </a:rPr>
              <a:t>V = </a:t>
            </a:r>
            <a:r>
              <a:rPr lang="en-US" sz="3359" dirty="0" err="1">
                <a:solidFill>
                  <a:srgbClr val="000000"/>
                </a:solidFill>
                <a:latin typeface="Lexend Deca"/>
                <a:ea typeface="Lexend Deca"/>
                <a:cs typeface="Lexend Deca"/>
                <a:sym typeface="Lexend Deca"/>
              </a:rPr>
              <a:t>jumlah</a:t>
            </a:r>
            <a:r>
              <a:rPr lang="en-US" sz="3359" dirty="0">
                <a:solidFill>
                  <a:srgbClr val="000000"/>
                </a:solidFill>
                <a:latin typeface="Lexend Deca"/>
                <a:ea typeface="Lexend Deca"/>
                <a:cs typeface="Lexend Deca"/>
                <a:sym typeface="Lexend Deca"/>
              </a:rPr>
              <a:t> </a:t>
            </a:r>
            <a:r>
              <a:rPr lang="en-US" sz="3359" dirty="0" err="1">
                <a:solidFill>
                  <a:srgbClr val="000000"/>
                </a:solidFill>
                <a:latin typeface="Lexend Deca"/>
                <a:ea typeface="Lexend Deca"/>
                <a:cs typeface="Lexend Deca"/>
                <a:sym typeface="Lexend Deca"/>
              </a:rPr>
              <a:t>lokasi</a:t>
            </a:r>
            <a:endParaRPr lang="en-US" sz="3359" dirty="0">
              <a:solidFill>
                <a:srgbClr val="000000"/>
              </a:solidFill>
              <a:latin typeface="Lexend Deca"/>
              <a:ea typeface="Lexend Deca"/>
              <a:cs typeface="Lexend Deca"/>
              <a:sym typeface="Lexend Deca"/>
            </a:endParaRPr>
          </a:p>
          <a:p>
            <a:pPr algn="just">
              <a:lnSpc>
                <a:spcPts val="4703"/>
              </a:lnSpc>
            </a:pPr>
            <a:r>
              <a:rPr lang="en-US" sz="3359" dirty="0">
                <a:solidFill>
                  <a:srgbClr val="000000"/>
                </a:solidFill>
                <a:latin typeface="Lexend Deca"/>
                <a:ea typeface="Lexend Deca"/>
                <a:cs typeface="Lexend Deca"/>
                <a:sym typeface="Lexend Deca"/>
              </a:rPr>
              <a:t>E = </a:t>
            </a:r>
            <a:r>
              <a:rPr lang="en-US" sz="3359" dirty="0" err="1">
                <a:solidFill>
                  <a:srgbClr val="000000"/>
                </a:solidFill>
                <a:latin typeface="Lexend Deca"/>
                <a:ea typeface="Lexend Deca"/>
                <a:cs typeface="Lexend Deca"/>
                <a:sym typeface="Lexend Deca"/>
              </a:rPr>
              <a:t>jumlah</a:t>
            </a:r>
            <a:r>
              <a:rPr lang="en-US" sz="3359" dirty="0">
                <a:solidFill>
                  <a:srgbClr val="000000"/>
                </a:solidFill>
                <a:latin typeface="Lexend Deca"/>
                <a:ea typeface="Lexend Deca"/>
                <a:cs typeface="Lexend Deca"/>
                <a:sym typeface="Lexend Deca"/>
              </a:rPr>
              <a:t> </a:t>
            </a:r>
            <a:r>
              <a:rPr lang="en-US" sz="3359" dirty="0" err="1">
                <a:solidFill>
                  <a:srgbClr val="000000"/>
                </a:solidFill>
                <a:latin typeface="Lexend Deca"/>
                <a:ea typeface="Lexend Deca"/>
                <a:cs typeface="Lexend Deca"/>
                <a:sym typeface="Lexend Deca"/>
              </a:rPr>
              <a:t>ruas</a:t>
            </a:r>
            <a:r>
              <a:rPr lang="en-US" sz="3359" dirty="0">
                <a:solidFill>
                  <a:srgbClr val="000000"/>
                </a:solidFill>
                <a:latin typeface="Lexend Deca"/>
                <a:ea typeface="Lexend Deca"/>
                <a:cs typeface="Lexend Deca"/>
                <a:sym typeface="Lexend Deca"/>
              </a:rPr>
              <a:t> </a:t>
            </a:r>
            <a:r>
              <a:rPr lang="en-US" sz="3359" dirty="0" err="1">
                <a:solidFill>
                  <a:srgbClr val="000000"/>
                </a:solidFill>
                <a:latin typeface="Lexend Deca"/>
                <a:ea typeface="Lexend Deca"/>
                <a:cs typeface="Lexend Deca"/>
                <a:sym typeface="Lexend Deca"/>
              </a:rPr>
              <a:t>jalan</a:t>
            </a:r>
            <a:endParaRPr lang="en-US" sz="3359" dirty="0">
              <a:solidFill>
                <a:srgbClr val="000000"/>
              </a:solidFill>
              <a:latin typeface="Lexend Deca"/>
              <a:ea typeface="Lexend Deca"/>
              <a:cs typeface="Lexend Deca"/>
              <a:sym typeface="Lexend Deca"/>
            </a:endParaRPr>
          </a:p>
          <a:p>
            <a:pPr algn="just">
              <a:lnSpc>
                <a:spcPts val="4703"/>
              </a:lnSpc>
            </a:pPr>
            <a:r>
              <a:rPr lang="en-US" sz="3359" dirty="0" err="1">
                <a:solidFill>
                  <a:srgbClr val="000000"/>
                </a:solidFill>
                <a:latin typeface="Lexend Deca"/>
                <a:ea typeface="Lexend Deca"/>
                <a:cs typeface="Lexend Deca"/>
                <a:sym typeface="Lexend Deca"/>
              </a:rPr>
              <a:t>Souce</a:t>
            </a:r>
            <a:r>
              <a:rPr lang="en-US" sz="3359" dirty="0">
                <a:solidFill>
                  <a:srgbClr val="000000"/>
                </a:solidFill>
                <a:latin typeface="Lexend Deca"/>
                <a:ea typeface="Lexend Deca"/>
                <a:cs typeface="Lexend Deca"/>
                <a:sym typeface="Lexend Deca"/>
              </a:rPr>
              <a:t> = </a:t>
            </a:r>
            <a:r>
              <a:rPr lang="en-US" sz="3359" dirty="0" err="1">
                <a:solidFill>
                  <a:srgbClr val="000000"/>
                </a:solidFill>
                <a:latin typeface="Lexend Deca"/>
                <a:ea typeface="Lexend Deca"/>
                <a:cs typeface="Lexend Deca"/>
                <a:sym typeface="Lexend Deca"/>
              </a:rPr>
              <a:t>lokasi</a:t>
            </a:r>
            <a:r>
              <a:rPr lang="en-US" sz="3359" dirty="0">
                <a:solidFill>
                  <a:srgbClr val="000000"/>
                </a:solidFill>
                <a:latin typeface="Lexend Deca"/>
                <a:ea typeface="Lexend Deca"/>
                <a:cs typeface="Lexend Deca"/>
                <a:sym typeface="Lexend Deca"/>
              </a:rPr>
              <a:t> </a:t>
            </a:r>
            <a:r>
              <a:rPr lang="en-US" sz="3359" dirty="0" err="1">
                <a:solidFill>
                  <a:srgbClr val="000000"/>
                </a:solidFill>
                <a:latin typeface="Lexend Deca"/>
                <a:ea typeface="Lexend Deca"/>
                <a:cs typeface="Lexend Deca"/>
                <a:sym typeface="Lexend Deca"/>
              </a:rPr>
              <a:t>awal</a:t>
            </a:r>
            <a:endParaRPr lang="en-US" sz="3359" dirty="0">
              <a:solidFill>
                <a:srgbClr val="000000"/>
              </a:solidFill>
              <a:latin typeface="Lexend Deca"/>
              <a:ea typeface="Lexend Deca"/>
              <a:cs typeface="Lexend Deca"/>
              <a:sym typeface="Lexend Deca"/>
            </a:endParaRPr>
          </a:p>
          <a:p>
            <a:pPr algn="just">
              <a:lnSpc>
                <a:spcPts val="4703"/>
              </a:lnSpc>
            </a:pPr>
            <a:r>
              <a:rPr lang="en-US" sz="3359" dirty="0">
                <a:solidFill>
                  <a:srgbClr val="000000"/>
                </a:solidFill>
                <a:latin typeface="Lexend Deca"/>
                <a:ea typeface="Lexend Deca"/>
                <a:cs typeface="Lexend Deca"/>
                <a:sym typeface="Lexend Deca"/>
              </a:rPr>
              <a:t>Target = </a:t>
            </a:r>
            <a:r>
              <a:rPr lang="en-US" sz="3359" dirty="0" err="1">
                <a:solidFill>
                  <a:srgbClr val="000000"/>
                </a:solidFill>
                <a:latin typeface="Lexend Deca"/>
                <a:ea typeface="Lexend Deca"/>
                <a:cs typeface="Lexend Deca"/>
                <a:sym typeface="Lexend Deca"/>
              </a:rPr>
              <a:t>lokasi</a:t>
            </a:r>
            <a:r>
              <a:rPr lang="en-US" sz="3359" dirty="0">
                <a:solidFill>
                  <a:srgbClr val="000000"/>
                </a:solidFill>
                <a:latin typeface="Lexend Deca"/>
                <a:ea typeface="Lexend Deca"/>
                <a:cs typeface="Lexend Deca"/>
                <a:sym typeface="Lexend Deca"/>
              </a:rPr>
              <a:t> </a:t>
            </a:r>
            <a:r>
              <a:rPr lang="en-US" sz="3359" dirty="0" err="1">
                <a:solidFill>
                  <a:srgbClr val="000000"/>
                </a:solidFill>
                <a:latin typeface="Lexend Deca"/>
                <a:ea typeface="Lexend Deca"/>
                <a:cs typeface="Lexend Deca"/>
                <a:sym typeface="Lexend Deca"/>
              </a:rPr>
              <a:t>tujuan</a:t>
            </a:r>
            <a:endParaRPr lang="en-US" sz="3359" dirty="0">
              <a:solidFill>
                <a:srgbClr val="000000"/>
              </a:solidFill>
              <a:latin typeface="Lexend Deca"/>
              <a:ea typeface="Lexend Deca"/>
              <a:cs typeface="Lexend Deca"/>
              <a:sym typeface="Lexend Deca"/>
            </a:endParaRPr>
          </a:p>
          <a:p>
            <a:pPr algn="just">
              <a:lnSpc>
                <a:spcPts val="4703"/>
              </a:lnSpc>
            </a:pPr>
            <a:endParaRPr lang="en-US" sz="3359" dirty="0">
              <a:solidFill>
                <a:srgbClr val="000000"/>
              </a:solidFill>
              <a:latin typeface="Lexend Deca"/>
              <a:ea typeface="Lexend Deca"/>
              <a:cs typeface="Lexend Deca"/>
              <a:sym typeface="Lexend Deca"/>
            </a:endParaRPr>
          </a:p>
          <a:p>
            <a:pPr algn="just">
              <a:lnSpc>
                <a:spcPts val="4703"/>
              </a:lnSpc>
            </a:pPr>
            <a:endParaRPr lang="en-US" sz="3359" dirty="0">
              <a:solidFill>
                <a:srgbClr val="000000"/>
              </a:solidFill>
              <a:latin typeface="Lexend Deca"/>
              <a:ea typeface="Lexend Deca"/>
              <a:cs typeface="Lexend Deca"/>
              <a:sym typeface="Lexend Deca"/>
            </a:endParaRPr>
          </a:p>
          <a:p>
            <a:pPr algn="just">
              <a:lnSpc>
                <a:spcPts val="4703"/>
              </a:lnSpc>
            </a:pPr>
            <a:endParaRPr lang="en-US" sz="3359" dirty="0">
              <a:solidFill>
                <a:srgbClr val="000000"/>
              </a:solidFill>
              <a:latin typeface="Lexend Deca"/>
              <a:ea typeface="Lexend Deca"/>
              <a:cs typeface="Lexend Deca"/>
              <a:sym typeface="Lexend Deca"/>
            </a:endParaRPr>
          </a:p>
          <a:p>
            <a:pPr algn="just">
              <a:lnSpc>
                <a:spcPts val="4703"/>
              </a:lnSpc>
            </a:pPr>
            <a:endParaRPr lang="en-US" sz="3359" dirty="0">
              <a:solidFill>
                <a:srgbClr val="000000"/>
              </a:solidFill>
              <a:latin typeface="Lexend Deca"/>
              <a:ea typeface="Lexend Deca"/>
              <a:cs typeface="Lexend Deca"/>
              <a:sym typeface="Lexend Deca"/>
            </a:endParaRPr>
          </a:p>
        </p:txBody>
      </p:sp>
      <p:sp>
        <p:nvSpPr>
          <p:cNvPr id="8" name="TextBox 8"/>
          <p:cNvSpPr txBox="1"/>
          <p:nvPr/>
        </p:nvSpPr>
        <p:spPr>
          <a:xfrm>
            <a:off x="9621727" y="3301170"/>
            <a:ext cx="7277188" cy="3566548"/>
          </a:xfrm>
          <a:prstGeom prst="rect">
            <a:avLst/>
          </a:prstGeom>
        </p:spPr>
        <p:txBody>
          <a:bodyPr lIns="0" tIns="0" rIns="0" bIns="0" rtlCol="0" anchor="t">
            <a:spAutoFit/>
          </a:bodyPr>
          <a:lstStyle/>
          <a:p>
            <a:pPr algn="just">
              <a:lnSpc>
                <a:spcPts val="4740"/>
              </a:lnSpc>
            </a:pPr>
            <a:r>
              <a:rPr lang="en-US" sz="3385">
                <a:solidFill>
                  <a:srgbClr val="000000"/>
                </a:solidFill>
                <a:latin typeface="Lexend Deca"/>
                <a:ea typeface="Lexend Deca"/>
                <a:cs typeface="Lexend Deca"/>
                <a:sym typeface="Lexend Deca"/>
              </a:rPr>
              <a:t>Deklarasi :</a:t>
            </a:r>
          </a:p>
          <a:p>
            <a:pPr algn="just">
              <a:lnSpc>
                <a:spcPts val="4740"/>
              </a:lnSpc>
            </a:pPr>
            <a:r>
              <a:rPr lang="en-US" sz="3385">
                <a:solidFill>
                  <a:srgbClr val="000000"/>
                </a:solidFill>
                <a:latin typeface="Lexend Deca"/>
                <a:ea typeface="Lexend Deca"/>
                <a:cs typeface="Lexend Deca"/>
                <a:sym typeface="Lexend Deca"/>
              </a:rPr>
              <a:t>Graph : Adjacency List</a:t>
            </a:r>
          </a:p>
          <a:p>
            <a:pPr algn="just">
              <a:lnSpc>
                <a:spcPts val="4740"/>
              </a:lnSpc>
            </a:pPr>
            <a:r>
              <a:rPr lang="en-US" sz="3385">
                <a:solidFill>
                  <a:srgbClr val="000000"/>
                </a:solidFill>
                <a:latin typeface="Lexend Deca"/>
                <a:ea typeface="Lexend Deca"/>
                <a:cs typeface="Lexend Deca"/>
                <a:sym typeface="Lexend Deca"/>
              </a:rPr>
              <a:t>Dist[v] : Array integer</a:t>
            </a:r>
          </a:p>
          <a:p>
            <a:pPr algn="just">
              <a:lnSpc>
                <a:spcPts val="4740"/>
              </a:lnSpc>
            </a:pPr>
            <a:r>
              <a:rPr lang="en-US" sz="3385">
                <a:solidFill>
                  <a:srgbClr val="000000"/>
                </a:solidFill>
                <a:latin typeface="Lexend Deca"/>
                <a:ea typeface="Lexend Deca"/>
                <a:cs typeface="Lexend Deca"/>
                <a:sym typeface="Lexend Deca"/>
              </a:rPr>
              <a:t>Parent[v] : Array integer</a:t>
            </a:r>
          </a:p>
          <a:p>
            <a:pPr algn="just">
              <a:lnSpc>
                <a:spcPts val="4740"/>
              </a:lnSpc>
            </a:pPr>
            <a:r>
              <a:rPr lang="en-US" sz="3385">
                <a:solidFill>
                  <a:srgbClr val="000000"/>
                </a:solidFill>
                <a:latin typeface="Lexend Deca"/>
                <a:ea typeface="Lexend Deca"/>
                <a:cs typeface="Lexend Deca"/>
                <a:sym typeface="Lexend Deca"/>
              </a:rPr>
              <a:t>Pq : Priority Queue</a:t>
            </a:r>
          </a:p>
          <a:p>
            <a:pPr algn="just">
              <a:lnSpc>
                <a:spcPts val="4740"/>
              </a:lnSpc>
            </a:pPr>
            <a:endParaRPr lang="en-US" sz="3385">
              <a:solidFill>
                <a:srgbClr val="000000"/>
              </a:solidFill>
              <a:latin typeface="Lexend Deca"/>
              <a:ea typeface="Lexend Deca"/>
              <a:cs typeface="Lexend Deca"/>
              <a:sym typeface="Lexend Deca"/>
            </a:endParaRPr>
          </a:p>
        </p:txBody>
      </p:sp>
      <p:sp>
        <p:nvSpPr>
          <p:cNvPr id="9" name="TextBox 9"/>
          <p:cNvSpPr txBox="1"/>
          <p:nvPr/>
        </p:nvSpPr>
        <p:spPr>
          <a:xfrm>
            <a:off x="5316397" y="8113395"/>
            <a:ext cx="6890842" cy="1144905"/>
          </a:xfrm>
          <a:prstGeom prst="rect">
            <a:avLst/>
          </a:prstGeom>
        </p:spPr>
        <p:txBody>
          <a:bodyPr lIns="0" tIns="0" rIns="0" bIns="0" rtlCol="0" anchor="t">
            <a:spAutoFit/>
          </a:bodyPr>
          <a:lstStyle/>
          <a:p>
            <a:pPr algn="ctr">
              <a:lnSpc>
                <a:spcPts val="4620"/>
              </a:lnSpc>
              <a:spcBef>
                <a:spcPct val="0"/>
              </a:spcBef>
            </a:pPr>
            <a:r>
              <a:rPr lang="en-US" sz="3300">
                <a:solidFill>
                  <a:srgbClr val="000000"/>
                </a:solidFill>
                <a:latin typeface="Lexend Deca"/>
                <a:ea typeface="Lexend Deca"/>
                <a:cs typeface="Lexend Deca"/>
                <a:sym typeface="Lexend Deca"/>
              </a:rPr>
              <a:t>Output :</a:t>
            </a:r>
          </a:p>
          <a:p>
            <a:pPr algn="ctr">
              <a:lnSpc>
                <a:spcPts val="4620"/>
              </a:lnSpc>
              <a:spcBef>
                <a:spcPct val="0"/>
              </a:spcBef>
            </a:pPr>
            <a:r>
              <a:rPr lang="en-US" sz="3300">
                <a:solidFill>
                  <a:srgbClr val="000000"/>
                </a:solidFill>
                <a:latin typeface="Lexend Deca"/>
                <a:ea typeface="Lexend Deca"/>
                <a:cs typeface="Lexend Deca"/>
                <a:sym typeface="Lexend Deca"/>
              </a:rPr>
              <a:t>Jarak terpendek dan rute optimal</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AutoShape 2"/>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3" name="AutoShape 3"/>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4" name="Freeform 4"/>
          <p:cNvSpPr/>
          <p:nvPr/>
        </p:nvSpPr>
        <p:spPr>
          <a:xfrm>
            <a:off x="1010657" y="1895985"/>
            <a:ext cx="2426075" cy="3780003"/>
          </a:xfrm>
          <a:custGeom>
            <a:avLst/>
            <a:gdLst/>
            <a:ahLst/>
            <a:cxnLst/>
            <a:rect l="l" t="t" r="r" b="b"/>
            <a:pathLst>
              <a:path w="2426075" h="3780003">
                <a:moveTo>
                  <a:pt x="0" y="0"/>
                </a:moveTo>
                <a:lnTo>
                  <a:pt x="2426075" y="0"/>
                </a:lnTo>
                <a:lnTo>
                  <a:pt x="2426075" y="3780003"/>
                </a:lnTo>
                <a:lnTo>
                  <a:pt x="0" y="37800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5" name="TextBox 5"/>
          <p:cNvSpPr txBox="1"/>
          <p:nvPr/>
        </p:nvSpPr>
        <p:spPr>
          <a:xfrm>
            <a:off x="2672368" y="2048385"/>
            <a:ext cx="9595832" cy="1064394"/>
          </a:xfrm>
          <a:prstGeom prst="rect">
            <a:avLst/>
          </a:prstGeom>
        </p:spPr>
        <p:txBody>
          <a:bodyPr wrap="square" lIns="0" tIns="0" rIns="0" bIns="0" rtlCol="0" anchor="t">
            <a:spAutoFit/>
          </a:bodyPr>
          <a:lstStyle/>
          <a:p>
            <a:pPr algn="l">
              <a:lnSpc>
                <a:spcPts val="8265"/>
              </a:lnSpc>
            </a:pPr>
            <a:r>
              <a:rPr lang="en-US" sz="10331" dirty="0" err="1">
                <a:solidFill>
                  <a:srgbClr val="932C29"/>
                </a:solidFill>
                <a:latin typeface="Gulfs Display"/>
                <a:ea typeface="Gulfs Display"/>
                <a:cs typeface="Gulfs Display"/>
                <a:sym typeface="Gulfs Display"/>
              </a:rPr>
              <a:t>Implementasi</a:t>
            </a:r>
            <a:endParaRPr lang="en-US" sz="10331" dirty="0">
              <a:solidFill>
                <a:srgbClr val="932C29"/>
              </a:solidFill>
              <a:latin typeface="Gulfs Display"/>
              <a:ea typeface="Gulfs Display"/>
              <a:cs typeface="Gulfs Display"/>
              <a:sym typeface="Gulfs Display"/>
            </a:endParaRPr>
          </a:p>
        </p:txBody>
      </p:sp>
      <p:sp>
        <p:nvSpPr>
          <p:cNvPr id="6" name="TextBox 6"/>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06</a:t>
            </a:r>
          </a:p>
        </p:txBody>
      </p:sp>
      <p:sp>
        <p:nvSpPr>
          <p:cNvPr id="7" name="TextBox 7"/>
          <p:cNvSpPr txBox="1"/>
          <p:nvPr/>
        </p:nvSpPr>
        <p:spPr>
          <a:xfrm>
            <a:off x="2672368" y="3410954"/>
            <a:ext cx="14002843" cy="5847346"/>
          </a:xfrm>
          <a:prstGeom prst="rect">
            <a:avLst/>
          </a:prstGeom>
        </p:spPr>
        <p:txBody>
          <a:bodyPr lIns="0" tIns="0" rIns="0" bIns="0" rtlCol="0" anchor="t">
            <a:spAutoFit/>
          </a:bodyPr>
          <a:lstStyle/>
          <a:p>
            <a:pPr algn="just">
              <a:lnSpc>
                <a:spcPts val="4617"/>
              </a:lnSpc>
            </a:pPr>
            <a:r>
              <a:rPr lang="en-US" sz="3298">
                <a:solidFill>
                  <a:srgbClr val="000000"/>
                </a:solidFill>
                <a:latin typeface="Lexend Deca"/>
                <a:ea typeface="Lexend Deca"/>
                <a:cs typeface="Lexend Deca"/>
                <a:sym typeface="Lexend Deca"/>
              </a:rPr>
              <a:t>Pada bagian ini, program dibuat dengan menggunakan bahsa C++ dengan menerapkan Algoritma Dijkstra untuk menentukan rute terpendek pengiriman paket antar wilayah. Program ini menggunakan beberapa library seperti &lt;iostream&gt;, &lt;vector&gt;, &lt;climits&gt;, &lt;fstream&gt;, dan &lt;algoritma&gt;. Pada kode ini juga terdapat beberapa fungsi diantara nya yaitu: Struktur Data Edge, Deklarasai Graph, Input Ruas Jalan, Inisialisasi Algoritma Dijkstra, Proses Algoritma Dijkstra, Rekonstruksi Rute, Penyimpanan Hasil ke File, dan Visualisasi HTML </a:t>
            </a:r>
          </a:p>
          <a:p>
            <a:pPr algn="just">
              <a:lnSpc>
                <a:spcPts val="4617"/>
              </a:lnSpc>
            </a:pPr>
            <a:endParaRPr lang="en-US" sz="3298">
              <a:solidFill>
                <a:srgbClr val="000000"/>
              </a:solidFill>
              <a:latin typeface="Lexend Deca"/>
              <a:ea typeface="Lexend Deca"/>
              <a:cs typeface="Lexend Deca"/>
              <a:sym typeface="Lexend Deca"/>
            </a:endParaRPr>
          </a:p>
        </p:txBody>
      </p:sp>
      <p:sp>
        <p:nvSpPr>
          <p:cNvPr id="8" name="Freeform 8"/>
          <p:cNvSpPr/>
          <p:nvPr/>
        </p:nvSpPr>
        <p:spPr>
          <a:xfrm rot="-1377331">
            <a:off x="11486674" y="2072961"/>
            <a:ext cx="1138755" cy="1138755"/>
          </a:xfrm>
          <a:custGeom>
            <a:avLst/>
            <a:gdLst/>
            <a:ahLst/>
            <a:cxnLst/>
            <a:rect l="l" t="t" r="r" b="b"/>
            <a:pathLst>
              <a:path w="1138755" h="1138755">
                <a:moveTo>
                  <a:pt x="0" y="0"/>
                </a:moveTo>
                <a:lnTo>
                  <a:pt x="1138755" y="0"/>
                </a:lnTo>
                <a:lnTo>
                  <a:pt x="1138755" y="1138755"/>
                </a:lnTo>
                <a:lnTo>
                  <a:pt x="0" y="11387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AutoShape 2"/>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3" name="AutoShape 3"/>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4" name="TextBox 4"/>
          <p:cNvSpPr txBox="1"/>
          <p:nvPr/>
        </p:nvSpPr>
        <p:spPr>
          <a:xfrm>
            <a:off x="2672367" y="2048385"/>
            <a:ext cx="10130037" cy="1064394"/>
          </a:xfrm>
          <a:prstGeom prst="rect">
            <a:avLst/>
          </a:prstGeom>
        </p:spPr>
        <p:txBody>
          <a:bodyPr wrap="square" lIns="0" tIns="0" rIns="0" bIns="0" rtlCol="0" anchor="t">
            <a:spAutoFit/>
          </a:bodyPr>
          <a:lstStyle/>
          <a:p>
            <a:pPr algn="l">
              <a:lnSpc>
                <a:spcPts val="8265"/>
              </a:lnSpc>
            </a:pPr>
            <a:r>
              <a:rPr lang="en-US" sz="10331" dirty="0" err="1">
                <a:solidFill>
                  <a:srgbClr val="932C29"/>
                </a:solidFill>
                <a:latin typeface="Gulfs Display"/>
                <a:ea typeface="Gulfs Display"/>
                <a:cs typeface="Gulfs Display"/>
                <a:sym typeface="Gulfs Display"/>
              </a:rPr>
              <a:t>Implementasi</a:t>
            </a:r>
            <a:endParaRPr lang="en-US" sz="10331" dirty="0">
              <a:solidFill>
                <a:srgbClr val="932C29"/>
              </a:solidFill>
              <a:latin typeface="Gulfs Display"/>
              <a:ea typeface="Gulfs Display"/>
              <a:cs typeface="Gulfs Display"/>
              <a:sym typeface="Gulfs Display"/>
            </a:endParaRPr>
          </a:p>
        </p:txBody>
      </p:sp>
      <p:sp>
        <p:nvSpPr>
          <p:cNvPr id="5" name="TextBox 5"/>
          <p:cNvSpPr txBox="1"/>
          <p:nvPr/>
        </p:nvSpPr>
        <p:spPr>
          <a:xfrm>
            <a:off x="3221534" y="3173310"/>
            <a:ext cx="9580871" cy="6467939"/>
          </a:xfrm>
          <a:prstGeom prst="rect">
            <a:avLst/>
          </a:prstGeom>
        </p:spPr>
        <p:txBody>
          <a:bodyPr lIns="0" tIns="0" rIns="0" bIns="0" rtlCol="0" anchor="t">
            <a:spAutoFit/>
          </a:bodyPr>
          <a:lstStyle/>
          <a:p>
            <a:pPr algn="just">
              <a:lnSpc>
                <a:spcPts val="4699"/>
              </a:lnSpc>
            </a:pPr>
            <a:r>
              <a:rPr lang="en-US" sz="3356">
                <a:solidFill>
                  <a:srgbClr val="000000"/>
                </a:solidFill>
                <a:latin typeface="Lexend Deca"/>
                <a:ea typeface="Lexend Deca"/>
                <a:cs typeface="Lexend Deca"/>
                <a:sym typeface="Lexend Deca"/>
              </a:rPr>
              <a:t>Penjelasan fungsi dan potongan kode :</a:t>
            </a:r>
          </a:p>
          <a:p>
            <a:pPr algn="l">
              <a:lnSpc>
                <a:spcPts val="4699"/>
              </a:lnSpc>
            </a:pPr>
            <a:r>
              <a:rPr lang="en-US" sz="3356">
                <a:solidFill>
                  <a:srgbClr val="000000"/>
                </a:solidFill>
                <a:latin typeface="Lexend Deca"/>
                <a:ea typeface="Lexend Deca"/>
                <a:cs typeface="Lexend Deca"/>
                <a:sym typeface="Lexend Deca"/>
              </a:rPr>
              <a:t>1.Struktur Data Edge </a:t>
            </a:r>
          </a:p>
          <a:p>
            <a:pPr algn="l">
              <a:lnSpc>
                <a:spcPts val="4699"/>
              </a:lnSpc>
            </a:pPr>
            <a:endParaRPr lang="en-US" sz="3356">
              <a:solidFill>
                <a:srgbClr val="000000"/>
              </a:solidFill>
              <a:latin typeface="Lexend Deca"/>
              <a:ea typeface="Lexend Deca"/>
              <a:cs typeface="Lexend Deca"/>
              <a:sym typeface="Lexend Deca"/>
            </a:endParaRPr>
          </a:p>
          <a:p>
            <a:pPr algn="l">
              <a:lnSpc>
                <a:spcPts val="4699"/>
              </a:lnSpc>
            </a:pPr>
            <a:endParaRPr lang="en-US" sz="3356">
              <a:solidFill>
                <a:srgbClr val="000000"/>
              </a:solidFill>
              <a:latin typeface="Lexend Deca"/>
              <a:ea typeface="Lexend Deca"/>
              <a:cs typeface="Lexend Deca"/>
              <a:sym typeface="Lexend Deca"/>
            </a:endParaRPr>
          </a:p>
          <a:p>
            <a:pPr algn="l">
              <a:lnSpc>
                <a:spcPts val="4699"/>
              </a:lnSpc>
            </a:pPr>
            <a:endParaRPr lang="en-US" sz="3356">
              <a:solidFill>
                <a:srgbClr val="000000"/>
              </a:solidFill>
              <a:latin typeface="Lexend Deca"/>
              <a:ea typeface="Lexend Deca"/>
              <a:cs typeface="Lexend Deca"/>
              <a:sym typeface="Lexend Deca"/>
            </a:endParaRPr>
          </a:p>
          <a:p>
            <a:pPr algn="l">
              <a:lnSpc>
                <a:spcPts val="4699"/>
              </a:lnSpc>
            </a:pPr>
            <a:endParaRPr lang="en-US" sz="3356">
              <a:solidFill>
                <a:srgbClr val="000000"/>
              </a:solidFill>
              <a:latin typeface="Lexend Deca"/>
              <a:ea typeface="Lexend Deca"/>
              <a:cs typeface="Lexend Deca"/>
              <a:sym typeface="Lexend Deca"/>
            </a:endParaRPr>
          </a:p>
          <a:p>
            <a:pPr algn="l">
              <a:lnSpc>
                <a:spcPts val="4699"/>
              </a:lnSpc>
            </a:pPr>
            <a:endParaRPr lang="en-US" sz="3356">
              <a:solidFill>
                <a:srgbClr val="000000"/>
              </a:solidFill>
              <a:latin typeface="Lexend Deca"/>
              <a:ea typeface="Lexend Deca"/>
              <a:cs typeface="Lexend Deca"/>
              <a:sym typeface="Lexend Deca"/>
            </a:endParaRPr>
          </a:p>
          <a:p>
            <a:pPr algn="l">
              <a:lnSpc>
                <a:spcPts val="4699"/>
              </a:lnSpc>
            </a:pPr>
            <a:endParaRPr lang="en-US" sz="3356">
              <a:solidFill>
                <a:srgbClr val="000000"/>
              </a:solidFill>
              <a:latin typeface="Lexend Deca"/>
              <a:ea typeface="Lexend Deca"/>
              <a:cs typeface="Lexend Deca"/>
              <a:sym typeface="Lexend Deca"/>
            </a:endParaRPr>
          </a:p>
          <a:p>
            <a:pPr algn="l">
              <a:lnSpc>
                <a:spcPts val="4699"/>
              </a:lnSpc>
            </a:pPr>
            <a:endParaRPr lang="en-US" sz="3356">
              <a:solidFill>
                <a:srgbClr val="000000"/>
              </a:solidFill>
              <a:latin typeface="Lexend Deca"/>
              <a:ea typeface="Lexend Deca"/>
              <a:cs typeface="Lexend Deca"/>
              <a:sym typeface="Lexend Deca"/>
            </a:endParaRPr>
          </a:p>
          <a:p>
            <a:pPr algn="l">
              <a:lnSpc>
                <a:spcPts val="4699"/>
              </a:lnSpc>
            </a:pPr>
            <a:endParaRPr lang="en-US" sz="3356">
              <a:solidFill>
                <a:srgbClr val="000000"/>
              </a:solidFill>
              <a:latin typeface="Lexend Deca"/>
              <a:ea typeface="Lexend Deca"/>
              <a:cs typeface="Lexend Deca"/>
              <a:sym typeface="Lexend Deca"/>
            </a:endParaRPr>
          </a:p>
          <a:p>
            <a:pPr algn="l">
              <a:lnSpc>
                <a:spcPts val="4699"/>
              </a:lnSpc>
            </a:pPr>
            <a:endParaRPr lang="en-US" sz="3356">
              <a:solidFill>
                <a:srgbClr val="000000"/>
              </a:solidFill>
              <a:latin typeface="Lexend Deca"/>
              <a:ea typeface="Lexend Deca"/>
              <a:cs typeface="Lexend Deca"/>
              <a:sym typeface="Lexend Deca"/>
            </a:endParaRPr>
          </a:p>
        </p:txBody>
      </p:sp>
      <p:sp>
        <p:nvSpPr>
          <p:cNvPr id="6" name="Freeform 6"/>
          <p:cNvSpPr/>
          <p:nvPr/>
        </p:nvSpPr>
        <p:spPr>
          <a:xfrm rot="-1377331">
            <a:off x="11486674" y="2072961"/>
            <a:ext cx="1138755" cy="1138755"/>
          </a:xfrm>
          <a:custGeom>
            <a:avLst/>
            <a:gdLst/>
            <a:ahLst/>
            <a:cxnLst/>
            <a:rect l="l" t="t" r="r" b="b"/>
            <a:pathLst>
              <a:path w="1138755" h="1138755">
                <a:moveTo>
                  <a:pt x="0" y="0"/>
                </a:moveTo>
                <a:lnTo>
                  <a:pt x="1138755" y="0"/>
                </a:lnTo>
                <a:lnTo>
                  <a:pt x="1138755" y="1138755"/>
                </a:lnTo>
                <a:lnTo>
                  <a:pt x="0" y="113875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7" name="Freeform 7"/>
          <p:cNvSpPr/>
          <p:nvPr/>
        </p:nvSpPr>
        <p:spPr>
          <a:xfrm>
            <a:off x="-208523" y="1762600"/>
            <a:ext cx="3430057" cy="3430057"/>
          </a:xfrm>
          <a:custGeom>
            <a:avLst/>
            <a:gdLst/>
            <a:ahLst/>
            <a:cxnLst/>
            <a:rect l="l" t="t" r="r" b="b"/>
            <a:pathLst>
              <a:path w="3430057" h="3430057">
                <a:moveTo>
                  <a:pt x="0" y="0"/>
                </a:moveTo>
                <a:lnTo>
                  <a:pt x="3430057" y="0"/>
                </a:lnTo>
                <a:lnTo>
                  <a:pt x="3430057" y="3430057"/>
                </a:lnTo>
                <a:lnTo>
                  <a:pt x="0" y="34300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8" name="Freeform 8"/>
          <p:cNvSpPr/>
          <p:nvPr/>
        </p:nvSpPr>
        <p:spPr>
          <a:xfrm>
            <a:off x="3221534" y="4931785"/>
            <a:ext cx="7302709" cy="3460434"/>
          </a:xfrm>
          <a:custGeom>
            <a:avLst/>
            <a:gdLst/>
            <a:ahLst/>
            <a:cxnLst/>
            <a:rect l="l" t="t" r="r" b="b"/>
            <a:pathLst>
              <a:path w="7302709" h="3460434">
                <a:moveTo>
                  <a:pt x="0" y="0"/>
                </a:moveTo>
                <a:lnTo>
                  <a:pt x="7302710" y="0"/>
                </a:lnTo>
                <a:lnTo>
                  <a:pt x="7302710" y="3460434"/>
                </a:lnTo>
                <a:lnTo>
                  <a:pt x="0" y="3460434"/>
                </a:lnTo>
                <a:lnTo>
                  <a:pt x="0" y="0"/>
                </a:lnTo>
                <a:close/>
              </a:path>
            </a:pathLst>
          </a:custGeom>
          <a:blipFill>
            <a:blip r:embed="rId4"/>
            <a:stretch>
              <a:fillRect/>
            </a:stretch>
          </a:blipFill>
        </p:spPr>
        <p:txBody>
          <a:bodyPr/>
          <a:lstStyle/>
          <a:p>
            <a:endParaRPr lang="id-ID"/>
          </a:p>
        </p:txBody>
      </p:sp>
      <p:sp>
        <p:nvSpPr>
          <p:cNvPr id="9" name="TextBox 9"/>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07</a:t>
            </a:r>
          </a:p>
        </p:txBody>
      </p:sp>
      <p:sp>
        <p:nvSpPr>
          <p:cNvPr id="10" name="TextBox 10"/>
          <p:cNvSpPr txBox="1"/>
          <p:nvPr/>
        </p:nvSpPr>
        <p:spPr>
          <a:xfrm>
            <a:off x="10736424" y="5293643"/>
            <a:ext cx="6522876" cy="2267263"/>
          </a:xfrm>
          <a:prstGeom prst="rect">
            <a:avLst/>
          </a:prstGeom>
        </p:spPr>
        <p:txBody>
          <a:bodyPr lIns="0" tIns="0" rIns="0" bIns="0" rtlCol="0" anchor="t">
            <a:spAutoFit/>
          </a:bodyPr>
          <a:lstStyle/>
          <a:p>
            <a:pPr algn="ctr">
              <a:lnSpc>
                <a:spcPts val="4579"/>
              </a:lnSpc>
              <a:spcBef>
                <a:spcPct val="0"/>
              </a:spcBef>
            </a:pPr>
            <a:r>
              <a:rPr lang="en-US" sz="3270">
                <a:solidFill>
                  <a:srgbClr val="000000"/>
                </a:solidFill>
                <a:latin typeface="Lexend Deca"/>
                <a:ea typeface="Lexend Deca"/>
                <a:cs typeface="Lexend Deca"/>
                <a:sym typeface="Lexend Deca"/>
              </a:rPr>
              <a:t>Struktur data edge digunakan untuk merepresentasikan hubungan antar lokasi pada graph.</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Freeform 2"/>
          <p:cNvSpPr/>
          <p:nvPr/>
        </p:nvSpPr>
        <p:spPr>
          <a:xfrm>
            <a:off x="1010657" y="1895985"/>
            <a:ext cx="2426075" cy="3780003"/>
          </a:xfrm>
          <a:custGeom>
            <a:avLst/>
            <a:gdLst/>
            <a:ahLst/>
            <a:cxnLst/>
            <a:rect l="l" t="t" r="r" b="b"/>
            <a:pathLst>
              <a:path w="2426075" h="3780003">
                <a:moveTo>
                  <a:pt x="0" y="0"/>
                </a:moveTo>
                <a:lnTo>
                  <a:pt x="2426075" y="0"/>
                </a:lnTo>
                <a:lnTo>
                  <a:pt x="2426075" y="3780003"/>
                </a:lnTo>
                <a:lnTo>
                  <a:pt x="0" y="37800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3" name="TextBox 3"/>
          <p:cNvSpPr txBox="1"/>
          <p:nvPr/>
        </p:nvSpPr>
        <p:spPr>
          <a:xfrm>
            <a:off x="2672368" y="2048385"/>
            <a:ext cx="9443432" cy="1064394"/>
          </a:xfrm>
          <a:prstGeom prst="rect">
            <a:avLst/>
          </a:prstGeom>
        </p:spPr>
        <p:txBody>
          <a:bodyPr wrap="square" lIns="0" tIns="0" rIns="0" bIns="0" rtlCol="0" anchor="t">
            <a:spAutoFit/>
          </a:bodyPr>
          <a:lstStyle/>
          <a:p>
            <a:pPr algn="l">
              <a:lnSpc>
                <a:spcPts val="8265"/>
              </a:lnSpc>
            </a:pPr>
            <a:r>
              <a:rPr lang="en-US" sz="10331" dirty="0" err="1">
                <a:solidFill>
                  <a:srgbClr val="932C29"/>
                </a:solidFill>
                <a:latin typeface="Gulfs Display"/>
                <a:ea typeface="Gulfs Display"/>
                <a:cs typeface="Gulfs Display"/>
                <a:sym typeface="Gulfs Display"/>
              </a:rPr>
              <a:t>Implementasi</a:t>
            </a:r>
            <a:endParaRPr lang="en-US" sz="10331" dirty="0">
              <a:solidFill>
                <a:srgbClr val="932C29"/>
              </a:solidFill>
              <a:latin typeface="Gulfs Display"/>
              <a:ea typeface="Gulfs Display"/>
              <a:cs typeface="Gulfs Display"/>
              <a:sym typeface="Gulfs Display"/>
            </a:endParaRPr>
          </a:p>
        </p:txBody>
      </p:sp>
      <p:sp>
        <p:nvSpPr>
          <p:cNvPr id="4" name="AutoShape 4"/>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5" name="AutoShape 5"/>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6" name="Freeform 6"/>
          <p:cNvSpPr/>
          <p:nvPr/>
        </p:nvSpPr>
        <p:spPr>
          <a:xfrm rot="-1377331">
            <a:off x="11486674" y="2072961"/>
            <a:ext cx="1138755" cy="1138755"/>
          </a:xfrm>
          <a:custGeom>
            <a:avLst/>
            <a:gdLst/>
            <a:ahLst/>
            <a:cxnLst/>
            <a:rect l="l" t="t" r="r" b="b"/>
            <a:pathLst>
              <a:path w="1138755" h="1138755">
                <a:moveTo>
                  <a:pt x="0" y="0"/>
                </a:moveTo>
                <a:lnTo>
                  <a:pt x="1138755" y="0"/>
                </a:lnTo>
                <a:lnTo>
                  <a:pt x="1138755" y="1138755"/>
                </a:lnTo>
                <a:lnTo>
                  <a:pt x="0" y="11387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7" name="Freeform 7"/>
          <p:cNvSpPr/>
          <p:nvPr/>
        </p:nvSpPr>
        <p:spPr>
          <a:xfrm>
            <a:off x="3436732" y="4634922"/>
            <a:ext cx="9713833" cy="1017155"/>
          </a:xfrm>
          <a:custGeom>
            <a:avLst/>
            <a:gdLst/>
            <a:ahLst/>
            <a:cxnLst/>
            <a:rect l="l" t="t" r="r" b="b"/>
            <a:pathLst>
              <a:path w="9713833" h="1017155">
                <a:moveTo>
                  <a:pt x="0" y="0"/>
                </a:moveTo>
                <a:lnTo>
                  <a:pt x="9713833" y="0"/>
                </a:lnTo>
                <a:lnTo>
                  <a:pt x="9713833" y="1017156"/>
                </a:lnTo>
                <a:lnTo>
                  <a:pt x="0" y="1017156"/>
                </a:lnTo>
                <a:lnTo>
                  <a:pt x="0" y="0"/>
                </a:lnTo>
                <a:close/>
              </a:path>
            </a:pathLst>
          </a:custGeom>
          <a:blipFill>
            <a:blip r:embed="rId4"/>
            <a:stretch>
              <a:fillRect/>
            </a:stretch>
          </a:blipFill>
        </p:spPr>
        <p:txBody>
          <a:bodyPr/>
          <a:lstStyle/>
          <a:p>
            <a:endParaRPr lang="id-ID"/>
          </a:p>
        </p:txBody>
      </p:sp>
      <p:sp>
        <p:nvSpPr>
          <p:cNvPr id="8" name="TextBox 8"/>
          <p:cNvSpPr txBox="1"/>
          <p:nvPr/>
        </p:nvSpPr>
        <p:spPr>
          <a:xfrm>
            <a:off x="3436732" y="3163785"/>
            <a:ext cx="9713833" cy="1742232"/>
          </a:xfrm>
          <a:prstGeom prst="rect">
            <a:avLst/>
          </a:prstGeom>
        </p:spPr>
        <p:txBody>
          <a:bodyPr lIns="0" tIns="0" rIns="0" bIns="0" rtlCol="0" anchor="t">
            <a:spAutoFit/>
          </a:bodyPr>
          <a:lstStyle/>
          <a:p>
            <a:pPr algn="just">
              <a:lnSpc>
                <a:spcPts val="4617"/>
              </a:lnSpc>
            </a:pPr>
            <a:r>
              <a:rPr lang="en-US" sz="3298">
                <a:solidFill>
                  <a:srgbClr val="000000"/>
                </a:solidFill>
                <a:latin typeface="Lexend Deca"/>
                <a:ea typeface="Lexend Deca"/>
                <a:cs typeface="Lexend Deca"/>
                <a:sym typeface="Lexend Deca"/>
              </a:rPr>
              <a:t>Penjelasan fungsi dan potongan kode :</a:t>
            </a:r>
          </a:p>
          <a:p>
            <a:pPr algn="just">
              <a:lnSpc>
                <a:spcPts val="4617"/>
              </a:lnSpc>
            </a:pPr>
            <a:r>
              <a:rPr lang="en-US" sz="3298">
                <a:solidFill>
                  <a:srgbClr val="000000"/>
                </a:solidFill>
                <a:latin typeface="Lexend Deca"/>
                <a:ea typeface="Lexend Deca"/>
                <a:cs typeface="Lexend Deca"/>
                <a:sym typeface="Lexend Deca"/>
              </a:rPr>
              <a:t>2.Deklarasi Graph</a:t>
            </a:r>
          </a:p>
          <a:p>
            <a:pPr algn="just">
              <a:lnSpc>
                <a:spcPts val="4617"/>
              </a:lnSpc>
            </a:pPr>
            <a:endParaRPr lang="en-US" sz="3298">
              <a:solidFill>
                <a:srgbClr val="000000"/>
              </a:solidFill>
              <a:latin typeface="Lexend Deca"/>
              <a:ea typeface="Lexend Deca"/>
              <a:cs typeface="Lexend Deca"/>
              <a:sym typeface="Lexend Deca"/>
            </a:endParaRPr>
          </a:p>
        </p:txBody>
      </p:sp>
      <p:sp>
        <p:nvSpPr>
          <p:cNvPr id="9" name="TextBox 9"/>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08</a:t>
            </a:r>
          </a:p>
        </p:txBody>
      </p:sp>
      <p:sp>
        <p:nvSpPr>
          <p:cNvPr id="10" name="TextBox 10"/>
          <p:cNvSpPr txBox="1"/>
          <p:nvPr/>
        </p:nvSpPr>
        <p:spPr>
          <a:xfrm>
            <a:off x="3436732" y="5991495"/>
            <a:ext cx="9713833" cy="2328677"/>
          </a:xfrm>
          <a:prstGeom prst="rect">
            <a:avLst/>
          </a:prstGeom>
        </p:spPr>
        <p:txBody>
          <a:bodyPr lIns="0" tIns="0" rIns="0" bIns="0" rtlCol="0" anchor="t">
            <a:spAutoFit/>
          </a:bodyPr>
          <a:lstStyle/>
          <a:p>
            <a:pPr algn="just">
              <a:lnSpc>
                <a:spcPts val="4617"/>
              </a:lnSpc>
            </a:pPr>
            <a:r>
              <a:rPr lang="en-US" sz="3298">
                <a:solidFill>
                  <a:srgbClr val="000000"/>
                </a:solidFill>
                <a:latin typeface="Lexend Deca"/>
                <a:ea typeface="Lexend Deca"/>
                <a:cs typeface="Lexend Deca"/>
                <a:sym typeface="Lexend Deca"/>
              </a:rPr>
              <a:t>Graph merupakan struktur utama yang digunakan dalam program untuk menggambarkan jaringan wilayah pengiriman paket.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AutoShape 2"/>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3" name="AutoShape 3"/>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4" name="Freeform 4"/>
          <p:cNvSpPr/>
          <p:nvPr/>
        </p:nvSpPr>
        <p:spPr>
          <a:xfrm>
            <a:off x="1010657" y="1895985"/>
            <a:ext cx="2426075" cy="3780003"/>
          </a:xfrm>
          <a:custGeom>
            <a:avLst/>
            <a:gdLst/>
            <a:ahLst/>
            <a:cxnLst/>
            <a:rect l="l" t="t" r="r" b="b"/>
            <a:pathLst>
              <a:path w="2426075" h="3780003">
                <a:moveTo>
                  <a:pt x="0" y="0"/>
                </a:moveTo>
                <a:lnTo>
                  <a:pt x="2426075" y="0"/>
                </a:lnTo>
                <a:lnTo>
                  <a:pt x="2426075" y="3780003"/>
                </a:lnTo>
                <a:lnTo>
                  <a:pt x="0" y="37800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5" name="TextBox 5"/>
          <p:cNvSpPr txBox="1"/>
          <p:nvPr/>
        </p:nvSpPr>
        <p:spPr>
          <a:xfrm>
            <a:off x="2672368" y="2048385"/>
            <a:ext cx="9443432" cy="1064394"/>
          </a:xfrm>
          <a:prstGeom prst="rect">
            <a:avLst/>
          </a:prstGeom>
        </p:spPr>
        <p:txBody>
          <a:bodyPr wrap="square" lIns="0" tIns="0" rIns="0" bIns="0" rtlCol="0" anchor="t">
            <a:spAutoFit/>
          </a:bodyPr>
          <a:lstStyle/>
          <a:p>
            <a:pPr algn="l">
              <a:lnSpc>
                <a:spcPts val="8265"/>
              </a:lnSpc>
            </a:pPr>
            <a:r>
              <a:rPr lang="en-US" sz="10331" dirty="0" err="1">
                <a:solidFill>
                  <a:srgbClr val="932C29"/>
                </a:solidFill>
                <a:latin typeface="Gulfs Display"/>
                <a:ea typeface="Gulfs Display"/>
                <a:cs typeface="Gulfs Display"/>
                <a:sym typeface="Gulfs Display"/>
              </a:rPr>
              <a:t>Implementasi</a:t>
            </a:r>
            <a:endParaRPr lang="en-US" sz="10331" dirty="0">
              <a:solidFill>
                <a:srgbClr val="932C29"/>
              </a:solidFill>
              <a:latin typeface="Gulfs Display"/>
              <a:ea typeface="Gulfs Display"/>
              <a:cs typeface="Gulfs Display"/>
              <a:sym typeface="Gulfs Display"/>
            </a:endParaRPr>
          </a:p>
        </p:txBody>
      </p:sp>
      <p:sp>
        <p:nvSpPr>
          <p:cNvPr id="6" name="Freeform 6"/>
          <p:cNvSpPr/>
          <p:nvPr/>
        </p:nvSpPr>
        <p:spPr>
          <a:xfrm rot="-1377331">
            <a:off x="11737514" y="2281452"/>
            <a:ext cx="1138755" cy="1138755"/>
          </a:xfrm>
          <a:custGeom>
            <a:avLst/>
            <a:gdLst/>
            <a:ahLst/>
            <a:cxnLst/>
            <a:rect l="l" t="t" r="r" b="b"/>
            <a:pathLst>
              <a:path w="1138755" h="1138755">
                <a:moveTo>
                  <a:pt x="0" y="0"/>
                </a:moveTo>
                <a:lnTo>
                  <a:pt x="1138755" y="0"/>
                </a:lnTo>
                <a:lnTo>
                  <a:pt x="1138755" y="1138755"/>
                </a:lnTo>
                <a:lnTo>
                  <a:pt x="0" y="11387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7" name="Freeform 7"/>
          <p:cNvSpPr/>
          <p:nvPr/>
        </p:nvSpPr>
        <p:spPr>
          <a:xfrm>
            <a:off x="3607282" y="4360248"/>
            <a:ext cx="9727487" cy="1566504"/>
          </a:xfrm>
          <a:custGeom>
            <a:avLst/>
            <a:gdLst/>
            <a:ahLst/>
            <a:cxnLst/>
            <a:rect l="l" t="t" r="r" b="b"/>
            <a:pathLst>
              <a:path w="9727487" h="1566504">
                <a:moveTo>
                  <a:pt x="0" y="0"/>
                </a:moveTo>
                <a:lnTo>
                  <a:pt x="9727488" y="0"/>
                </a:lnTo>
                <a:lnTo>
                  <a:pt x="9727488" y="1566504"/>
                </a:lnTo>
                <a:lnTo>
                  <a:pt x="0" y="1566504"/>
                </a:lnTo>
                <a:lnTo>
                  <a:pt x="0" y="0"/>
                </a:lnTo>
                <a:close/>
              </a:path>
            </a:pathLst>
          </a:custGeom>
          <a:blipFill>
            <a:blip r:embed="rId4"/>
            <a:stretch>
              <a:fillRect/>
            </a:stretch>
          </a:blipFill>
        </p:spPr>
        <p:txBody>
          <a:bodyPr/>
          <a:lstStyle/>
          <a:p>
            <a:endParaRPr lang="id-ID"/>
          </a:p>
        </p:txBody>
      </p:sp>
      <p:sp>
        <p:nvSpPr>
          <p:cNvPr id="8" name="TextBox 8"/>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09</a:t>
            </a:r>
          </a:p>
        </p:txBody>
      </p:sp>
      <p:sp>
        <p:nvSpPr>
          <p:cNvPr id="9" name="TextBox 9"/>
          <p:cNvSpPr txBox="1"/>
          <p:nvPr/>
        </p:nvSpPr>
        <p:spPr>
          <a:xfrm>
            <a:off x="3627823" y="3163785"/>
            <a:ext cx="9706947" cy="1742232"/>
          </a:xfrm>
          <a:prstGeom prst="rect">
            <a:avLst/>
          </a:prstGeom>
        </p:spPr>
        <p:txBody>
          <a:bodyPr lIns="0" tIns="0" rIns="0" bIns="0" rtlCol="0" anchor="t">
            <a:spAutoFit/>
          </a:bodyPr>
          <a:lstStyle/>
          <a:p>
            <a:pPr algn="just">
              <a:lnSpc>
                <a:spcPts val="4617"/>
              </a:lnSpc>
            </a:pPr>
            <a:r>
              <a:rPr lang="en-US" sz="3298">
                <a:solidFill>
                  <a:srgbClr val="000000"/>
                </a:solidFill>
                <a:latin typeface="Lexend Deca"/>
                <a:ea typeface="Lexend Deca"/>
                <a:cs typeface="Lexend Deca"/>
                <a:sym typeface="Lexend Deca"/>
              </a:rPr>
              <a:t>Penjelasan fungsi dan potongan kode :</a:t>
            </a:r>
          </a:p>
          <a:p>
            <a:pPr algn="l">
              <a:lnSpc>
                <a:spcPts val="4617"/>
              </a:lnSpc>
            </a:pPr>
            <a:r>
              <a:rPr lang="en-US" sz="3298">
                <a:solidFill>
                  <a:srgbClr val="000000"/>
                </a:solidFill>
                <a:latin typeface="Lexend Deca"/>
                <a:ea typeface="Lexend Deca"/>
                <a:cs typeface="Lexend Deca"/>
                <a:sym typeface="Lexend Deca"/>
              </a:rPr>
              <a:t>3.Input Ruas Jalan</a:t>
            </a:r>
          </a:p>
          <a:p>
            <a:pPr algn="l">
              <a:lnSpc>
                <a:spcPts val="4617"/>
              </a:lnSpc>
            </a:pPr>
            <a:endParaRPr lang="en-US" sz="3298">
              <a:solidFill>
                <a:srgbClr val="000000"/>
              </a:solidFill>
              <a:latin typeface="Lexend Deca"/>
              <a:ea typeface="Lexend Deca"/>
              <a:cs typeface="Lexend Deca"/>
              <a:sym typeface="Lexend Deca"/>
            </a:endParaRPr>
          </a:p>
        </p:txBody>
      </p:sp>
      <p:sp>
        <p:nvSpPr>
          <p:cNvPr id="10" name="TextBox 10"/>
          <p:cNvSpPr txBox="1"/>
          <p:nvPr/>
        </p:nvSpPr>
        <p:spPr>
          <a:xfrm>
            <a:off x="3627823" y="6174930"/>
            <a:ext cx="9706947" cy="2328677"/>
          </a:xfrm>
          <a:prstGeom prst="rect">
            <a:avLst/>
          </a:prstGeom>
        </p:spPr>
        <p:txBody>
          <a:bodyPr lIns="0" tIns="0" rIns="0" bIns="0" rtlCol="0" anchor="t">
            <a:spAutoFit/>
          </a:bodyPr>
          <a:lstStyle/>
          <a:p>
            <a:pPr algn="just">
              <a:lnSpc>
                <a:spcPts val="4617"/>
              </a:lnSpc>
            </a:pPr>
            <a:endParaRPr/>
          </a:p>
          <a:p>
            <a:pPr algn="l">
              <a:lnSpc>
                <a:spcPts val="4617"/>
              </a:lnSpc>
            </a:pPr>
            <a:r>
              <a:rPr lang="en-US" sz="3298">
                <a:solidFill>
                  <a:srgbClr val="000000"/>
                </a:solidFill>
                <a:latin typeface="Lexend Deca"/>
                <a:ea typeface="Lexend Deca"/>
                <a:cs typeface="Lexend Deca"/>
                <a:sym typeface="Lexend Deca"/>
              </a:rPr>
              <a:t>Bagian ini berfungsi untuk memasukkan data hubungan antar lokasi ke dalam graph</a:t>
            </a:r>
          </a:p>
          <a:p>
            <a:pPr algn="l">
              <a:lnSpc>
                <a:spcPts val="4617"/>
              </a:lnSpc>
            </a:pPr>
            <a:endParaRPr lang="en-US" sz="3298">
              <a:solidFill>
                <a:srgbClr val="000000"/>
              </a:solidFill>
              <a:latin typeface="Lexend Deca"/>
              <a:ea typeface="Lexend Deca"/>
              <a:cs typeface="Lexend Deca"/>
              <a:sym typeface="Lexend Deca"/>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TextBox 2"/>
          <p:cNvSpPr txBox="1"/>
          <p:nvPr/>
        </p:nvSpPr>
        <p:spPr>
          <a:xfrm>
            <a:off x="3245640" y="2048385"/>
            <a:ext cx="9555959" cy="1064394"/>
          </a:xfrm>
          <a:prstGeom prst="rect">
            <a:avLst/>
          </a:prstGeom>
        </p:spPr>
        <p:txBody>
          <a:bodyPr wrap="square" lIns="0" tIns="0" rIns="0" bIns="0" rtlCol="0" anchor="t">
            <a:spAutoFit/>
          </a:bodyPr>
          <a:lstStyle/>
          <a:p>
            <a:pPr algn="l">
              <a:lnSpc>
                <a:spcPts val="8265"/>
              </a:lnSpc>
            </a:pPr>
            <a:r>
              <a:rPr lang="en-US" sz="10331" dirty="0" err="1">
                <a:solidFill>
                  <a:srgbClr val="932C29"/>
                </a:solidFill>
                <a:latin typeface="Gulfs Display"/>
                <a:ea typeface="Gulfs Display"/>
                <a:cs typeface="Gulfs Display"/>
                <a:sym typeface="Gulfs Display"/>
              </a:rPr>
              <a:t>Implementasi</a:t>
            </a:r>
            <a:endParaRPr lang="en-US" sz="10331" dirty="0">
              <a:solidFill>
                <a:srgbClr val="932C29"/>
              </a:solidFill>
              <a:latin typeface="Gulfs Display"/>
              <a:ea typeface="Gulfs Display"/>
              <a:cs typeface="Gulfs Display"/>
              <a:sym typeface="Gulfs Display"/>
            </a:endParaRPr>
          </a:p>
        </p:txBody>
      </p:sp>
      <p:sp>
        <p:nvSpPr>
          <p:cNvPr id="3" name="Freeform 3"/>
          <p:cNvSpPr/>
          <p:nvPr/>
        </p:nvSpPr>
        <p:spPr>
          <a:xfrm>
            <a:off x="1010657" y="1895985"/>
            <a:ext cx="2426075" cy="3780003"/>
          </a:xfrm>
          <a:custGeom>
            <a:avLst/>
            <a:gdLst/>
            <a:ahLst/>
            <a:cxnLst/>
            <a:rect l="l" t="t" r="r" b="b"/>
            <a:pathLst>
              <a:path w="2426075" h="3780003">
                <a:moveTo>
                  <a:pt x="0" y="0"/>
                </a:moveTo>
                <a:lnTo>
                  <a:pt x="2426075" y="0"/>
                </a:lnTo>
                <a:lnTo>
                  <a:pt x="2426075" y="3780003"/>
                </a:lnTo>
                <a:lnTo>
                  <a:pt x="0" y="37800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4" name="AutoShape 4"/>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5" name="AutoShape 5"/>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6" name="Freeform 6"/>
          <p:cNvSpPr/>
          <p:nvPr/>
        </p:nvSpPr>
        <p:spPr>
          <a:xfrm>
            <a:off x="3436732" y="4608520"/>
            <a:ext cx="8171753" cy="2510190"/>
          </a:xfrm>
          <a:custGeom>
            <a:avLst/>
            <a:gdLst/>
            <a:ahLst/>
            <a:cxnLst/>
            <a:rect l="l" t="t" r="r" b="b"/>
            <a:pathLst>
              <a:path w="8171753" h="2510190">
                <a:moveTo>
                  <a:pt x="0" y="0"/>
                </a:moveTo>
                <a:lnTo>
                  <a:pt x="8171752" y="0"/>
                </a:lnTo>
                <a:lnTo>
                  <a:pt x="8171752" y="2510190"/>
                </a:lnTo>
                <a:lnTo>
                  <a:pt x="0" y="2510190"/>
                </a:lnTo>
                <a:lnTo>
                  <a:pt x="0" y="0"/>
                </a:lnTo>
                <a:close/>
              </a:path>
            </a:pathLst>
          </a:custGeom>
          <a:blipFill>
            <a:blip r:embed="rId3"/>
            <a:stretch>
              <a:fillRect t="-598" b="-598"/>
            </a:stretch>
          </a:blipFill>
        </p:spPr>
        <p:txBody>
          <a:bodyPr/>
          <a:lstStyle/>
          <a:p>
            <a:endParaRPr lang="id-ID"/>
          </a:p>
        </p:txBody>
      </p:sp>
      <p:sp>
        <p:nvSpPr>
          <p:cNvPr id="7" name="TextBox 7"/>
          <p:cNvSpPr txBox="1"/>
          <p:nvPr/>
        </p:nvSpPr>
        <p:spPr>
          <a:xfrm>
            <a:off x="3627823" y="3163785"/>
            <a:ext cx="9706947" cy="1742232"/>
          </a:xfrm>
          <a:prstGeom prst="rect">
            <a:avLst/>
          </a:prstGeom>
        </p:spPr>
        <p:txBody>
          <a:bodyPr lIns="0" tIns="0" rIns="0" bIns="0" rtlCol="0" anchor="t">
            <a:spAutoFit/>
          </a:bodyPr>
          <a:lstStyle/>
          <a:p>
            <a:pPr algn="just">
              <a:lnSpc>
                <a:spcPts val="4617"/>
              </a:lnSpc>
            </a:pPr>
            <a:r>
              <a:rPr lang="en-US" sz="3298">
                <a:solidFill>
                  <a:srgbClr val="000000"/>
                </a:solidFill>
                <a:latin typeface="Lexend Deca"/>
                <a:ea typeface="Lexend Deca"/>
                <a:cs typeface="Lexend Deca"/>
                <a:sym typeface="Lexend Deca"/>
              </a:rPr>
              <a:t>Penjelasan fungsi dan potongan kode :</a:t>
            </a:r>
          </a:p>
          <a:p>
            <a:pPr algn="l">
              <a:lnSpc>
                <a:spcPts val="4617"/>
              </a:lnSpc>
            </a:pPr>
            <a:r>
              <a:rPr lang="en-US" sz="3298">
                <a:solidFill>
                  <a:srgbClr val="000000"/>
                </a:solidFill>
                <a:latin typeface="Lexend Deca"/>
                <a:ea typeface="Lexend Deca"/>
                <a:cs typeface="Lexend Deca"/>
                <a:sym typeface="Lexend Deca"/>
              </a:rPr>
              <a:t>4.Inisialisasi Algoritma Dijkstra</a:t>
            </a:r>
          </a:p>
          <a:p>
            <a:pPr algn="l">
              <a:lnSpc>
                <a:spcPts val="4617"/>
              </a:lnSpc>
            </a:pPr>
            <a:endParaRPr lang="en-US" sz="3298">
              <a:solidFill>
                <a:srgbClr val="000000"/>
              </a:solidFill>
              <a:latin typeface="Lexend Deca"/>
              <a:ea typeface="Lexend Deca"/>
              <a:cs typeface="Lexend Deca"/>
              <a:sym typeface="Lexend Deca"/>
            </a:endParaRPr>
          </a:p>
        </p:txBody>
      </p:sp>
      <p:sp>
        <p:nvSpPr>
          <p:cNvPr id="8" name="TextBox 8"/>
          <p:cNvSpPr txBox="1"/>
          <p:nvPr/>
        </p:nvSpPr>
        <p:spPr>
          <a:xfrm>
            <a:off x="6029785" y="7071085"/>
            <a:ext cx="7519829" cy="1900772"/>
          </a:xfrm>
          <a:prstGeom prst="rect">
            <a:avLst/>
          </a:prstGeom>
        </p:spPr>
        <p:txBody>
          <a:bodyPr lIns="0" tIns="0" rIns="0" bIns="0" rtlCol="0" anchor="t">
            <a:spAutoFit/>
          </a:bodyPr>
          <a:lstStyle/>
          <a:p>
            <a:pPr algn="just">
              <a:lnSpc>
                <a:spcPts val="3783"/>
              </a:lnSpc>
            </a:pPr>
            <a:endParaRPr/>
          </a:p>
          <a:p>
            <a:pPr algn="l">
              <a:lnSpc>
                <a:spcPts val="3783"/>
              </a:lnSpc>
            </a:pPr>
            <a:r>
              <a:rPr lang="en-US" sz="2702">
                <a:solidFill>
                  <a:srgbClr val="000000"/>
                </a:solidFill>
                <a:latin typeface="Lexend Deca"/>
                <a:ea typeface="Lexend Deca"/>
                <a:cs typeface="Lexend Deca"/>
                <a:sym typeface="Lexend Deca"/>
              </a:rPr>
              <a:t>Bagian ini berfungsi untuk memasukkan data hubungan antar lokasi ke dalam graph</a:t>
            </a:r>
          </a:p>
          <a:p>
            <a:pPr algn="l">
              <a:lnSpc>
                <a:spcPts val="3783"/>
              </a:lnSpc>
            </a:pPr>
            <a:endParaRPr lang="en-US" sz="2702">
              <a:solidFill>
                <a:srgbClr val="000000"/>
              </a:solidFill>
              <a:latin typeface="Lexend Deca"/>
              <a:ea typeface="Lexend Deca"/>
              <a:cs typeface="Lexend Deca"/>
              <a:sym typeface="Lexend Deca"/>
            </a:endParaRPr>
          </a:p>
        </p:txBody>
      </p:sp>
      <p:sp>
        <p:nvSpPr>
          <p:cNvPr id="9" name="TextBox 9"/>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10</a:t>
            </a:r>
          </a:p>
        </p:txBody>
      </p:sp>
      <p:sp>
        <p:nvSpPr>
          <p:cNvPr id="10" name="Freeform 10"/>
          <p:cNvSpPr/>
          <p:nvPr/>
        </p:nvSpPr>
        <p:spPr>
          <a:xfrm rot="-1377331">
            <a:off x="12019038" y="1914729"/>
            <a:ext cx="1138755" cy="1138755"/>
          </a:xfrm>
          <a:custGeom>
            <a:avLst/>
            <a:gdLst/>
            <a:ahLst/>
            <a:cxnLst/>
            <a:rect l="l" t="t" r="r" b="b"/>
            <a:pathLst>
              <a:path w="1138755" h="1138755">
                <a:moveTo>
                  <a:pt x="0" y="0"/>
                </a:moveTo>
                <a:lnTo>
                  <a:pt x="1138755" y="0"/>
                </a:lnTo>
                <a:lnTo>
                  <a:pt x="1138755" y="1138755"/>
                </a:lnTo>
                <a:lnTo>
                  <a:pt x="0" y="11387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d-ID"/>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Freeform 2"/>
          <p:cNvSpPr/>
          <p:nvPr/>
        </p:nvSpPr>
        <p:spPr>
          <a:xfrm>
            <a:off x="1010657" y="1895985"/>
            <a:ext cx="2426075" cy="3780003"/>
          </a:xfrm>
          <a:custGeom>
            <a:avLst/>
            <a:gdLst/>
            <a:ahLst/>
            <a:cxnLst/>
            <a:rect l="l" t="t" r="r" b="b"/>
            <a:pathLst>
              <a:path w="2426075" h="3780003">
                <a:moveTo>
                  <a:pt x="0" y="0"/>
                </a:moveTo>
                <a:lnTo>
                  <a:pt x="2426075" y="0"/>
                </a:lnTo>
                <a:lnTo>
                  <a:pt x="2426075" y="3780003"/>
                </a:lnTo>
                <a:lnTo>
                  <a:pt x="0" y="37800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3" name="TextBox 3"/>
          <p:cNvSpPr txBox="1"/>
          <p:nvPr/>
        </p:nvSpPr>
        <p:spPr>
          <a:xfrm>
            <a:off x="2672367" y="2048385"/>
            <a:ext cx="9706947" cy="1064394"/>
          </a:xfrm>
          <a:prstGeom prst="rect">
            <a:avLst/>
          </a:prstGeom>
        </p:spPr>
        <p:txBody>
          <a:bodyPr wrap="square" lIns="0" tIns="0" rIns="0" bIns="0" rtlCol="0" anchor="t">
            <a:spAutoFit/>
          </a:bodyPr>
          <a:lstStyle/>
          <a:p>
            <a:pPr algn="l">
              <a:lnSpc>
                <a:spcPts val="8265"/>
              </a:lnSpc>
            </a:pPr>
            <a:r>
              <a:rPr lang="en-US" sz="10331" dirty="0" err="1">
                <a:solidFill>
                  <a:srgbClr val="932C29"/>
                </a:solidFill>
                <a:latin typeface="Gulfs Display"/>
                <a:ea typeface="Gulfs Display"/>
                <a:cs typeface="Gulfs Display"/>
                <a:sym typeface="Gulfs Display"/>
              </a:rPr>
              <a:t>Implementasi</a:t>
            </a:r>
            <a:endParaRPr lang="en-US" sz="10331" dirty="0">
              <a:solidFill>
                <a:srgbClr val="932C29"/>
              </a:solidFill>
              <a:latin typeface="Gulfs Display"/>
              <a:ea typeface="Gulfs Display"/>
              <a:cs typeface="Gulfs Display"/>
              <a:sym typeface="Gulfs Display"/>
            </a:endParaRPr>
          </a:p>
        </p:txBody>
      </p:sp>
      <p:sp>
        <p:nvSpPr>
          <p:cNvPr id="4" name="Freeform 4"/>
          <p:cNvSpPr/>
          <p:nvPr/>
        </p:nvSpPr>
        <p:spPr>
          <a:xfrm rot="-1377331">
            <a:off x="11486674" y="2072961"/>
            <a:ext cx="1138755" cy="1138755"/>
          </a:xfrm>
          <a:custGeom>
            <a:avLst/>
            <a:gdLst/>
            <a:ahLst/>
            <a:cxnLst/>
            <a:rect l="l" t="t" r="r" b="b"/>
            <a:pathLst>
              <a:path w="1138755" h="1138755">
                <a:moveTo>
                  <a:pt x="0" y="0"/>
                </a:moveTo>
                <a:lnTo>
                  <a:pt x="1138755" y="0"/>
                </a:lnTo>
                <a:lnTo>
                  <a:pt x="1138755" y="1138755"/>
                </a:lnTo>
                <a:lnTo>
                  <a:pt x="0" y="11387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5" name="AutoShape 5"/>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6" name="AutoShape 6"/>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7" name="Freeform 7"/>
          <p:cNvSpPr/>
          <p:nvPr/>
        </p:nvSpPr>
        <p:spPr>
          <a:xfrm>
            <a:off x="3736127" y="4451314"/>
            <a:ext cx="5108477" cy="5336365"/>
          </a:xfrm>
          <a:custGeom>
            <a:avLst/>
            <a:gdLst/>
            <a:ahLst/>
            <a:cxnLst/>
            <a:rect l="l" t="t" r="r" b="b"/>
            <a:pathLst>
              <a:path w="5108477" h="5336365">
                <a:moveTo>
                  <a:pt x="0" y="0"/>
                </a:moveTo>
                <a:lnTo>
                  <a:pt x="5108478" y="0"/>
                </a:lnTo>
                <a:lnTo>
                  <a:pt x="5108478" y="5336365"/>
                </a:lnTo>
                <a:lnTo>
                  <a:pt x="0" y="5336365"/>
                </a:lnTo>
                <a:lnTo>
                  <a:pt x="0" y="0"/>
                </a:lnTo>
                <a:close/>
              </a:path>
            </a:pathLst>
          </a:custGeom>
          <a:blipFill>
            <a:blip r:embed="rId4"/>
            <a:stretch>
              <a:fillRect/>
            </a:stretch>
          </a:blipFill>
        </p:spPr>
        <p:txBody>
          <a:bodyPr/>
          <a:lstStyle/>
          <a:p>
            <a:endParaRPr lang="id-ID"/>
          </a:p>
        </p:txBody>
      </p:sp>
      <p:sp>
        <p:nvSpPr>
          <p:cNvPr id="8" name="TextBox 8"/>
          <p:cNvSpPr txBox="1"/>
          <p:nvPr/>
        </p:nvSpPr>
        <p:spPr>
          <a:xfrm>
            <a:off x="3627823" y="3163785"/>
            <a:ext cx="9706947" cy="1742232"/>
          </a:xfrm>
          <a:prstGeom prst="rect">
            <a:avLst/>
          </a:prstGeom>
        </p:spPr>
        <p:txBody>
          <a:bodyPr lIns="0" tIns="0" rIns="0" bIns="0" rtlCol="0" anchor="t">
            <a:spAutoFit/>
          </a:bodyPr>
          <a:lstStyle/>
          <a:p>
            <a:pPr algn="just">
              <a:lnSpc>
                <a:spcPts val="4617"/>
              </a:lnSpc>
            </a:pPr>
            <a:r>
              <a:rPr lang="en-US" sz="3298">
                <a:solidFill>
                  <a:srgbClr val="000000"/>
                </a:solidFill>
                <a:latin typeface="Lexend Deca"/>
                <a:ea typeface="Lexend Deca"/>
                <a:cs typeface="Lexend Deca"/>
                <a:sym typeface="Lexend Deca"/>
              </a:rPr>
              <a:t>Penjelasan fungsi dan potongan kode :</a:t>
            </a:r>
          </a:p>
          <a:p>
            <a:pPr algn="l">
              <a:lnSpc>
                <a:spcPts val="4617"/>
              </a:lnSpc>
            </a:pPr>
            <a:r>
              <a:rPr lang="en-US" sz="3298">
                <a:solidFill>
                  <a:srgbClr val="000000"/>
                </a:solidFill>
                <a:latin typeface="Lexend Deca"/>
                <a:ea typeface="Lexend Deca"/>
                <a:cs typeface="Lexend Deca"/>
                <a:sym typeface="Lexend Deca"/>
              </a:rPr>
              <a:t>5.Proses  Algoritma Dijkstra</a:t>
            </a:r>
          </a:p>
          <a:p>
            <a:pPr algn="l">
              <a:lnSpc>
                <a:spcPts val="4617"/>
              </a:lnSpc>
            </a:pPr>
            <a:endParaRPr lang="en-US" sz="3298">
              <a:solidFill>
                <a:srgbClr val="000000"/>
              </a:solidFill>
              <a:latin typeface="Lexend Deca"/>
              <a:ea typeface="Lexend Deca"/>
              <a:cs typeface="Lexend Deca"/>
              <a:sym typeface="Lexend Deca"/>
            </a:endParaRPr>
          </a:p>
        </p:txBody>
      </p:sp>
      <p:sp>
        <p:nvSpPr>
          <p:cNvPr id="9" name="TextBox 9"/>
          <p:cNvSpPr txBox="1"/>
          <p:nvPr/>
        </p:nvSpPr>
        <p:spPr>
          <a:xfrm>
            <a:off x="9144000" y="5609313"/>
            <a:ext cx="7774475" cy="1752903"/>
          </a:xfrm>
          <a:prstGeom prst="rect">
            <a:avLst/>
          </a:prstGeom>
        </p:spPr>
        <p:txBody>
          <a:bodyPr lIns="0" tIns="0" rIns="0" bIns="0" rtlCol="0" anchor="t">
            <a:spAutoFit/>
          </a:bodyPr>
          <a:lstStyle/>
          <a:p>
            <a:pPr algn="just">
              <a:lnSpc>
                <a:spcPts val="4708"/>
              </a:lnSpc>
            </a:pPr>
            <a:r>
              <a:rPr lang="en-US" sz="3363">
                <a:solidFill>
                  <a:srgbClr val="000000"/>
                </a:solidFill>
                <a:latin typeface="Lexend Deca"/>
                <a:ea typeface="Lexend Deca"/>
                <a:cs typeface="Lexend Deca"/>
                <a:sym typeface="Lexend Deca"/>
              </a:rPr>
              <a:t>Bagian ini merupakan inti dari program karena berisi implementasi Algoritma Dijkstra</a:t>
            </a:r>
          </a:p>
        </p:txBody>
      </p:sp>
      <p:sp>
        <p:nvSpPr>
          <p:cNvPr id="10" name="TextBox 10"/>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11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Freeform 2"/>
          <p:cNvSpPr/>
          <p:nvPr/>
        </p:nvSpPr>
        <p:spPr>
          <a:xfrm>
            <a:off x="1010657" y="1895985"/>
            <a:ext cx="2426075" cy="3780003"/>
          </a:xfrm>
          <a:custGeom>
            <a:avLst/>
            <a:gdLst/>
            <a:ahLst/>
            <a:cxnLst/>
            <a:rect l="l" t="t" r="r" b="b"/>
            <a:pathLst>
              <a:path w="2426075" h="3780003">
                <a:moveTo>
                  <a:pt x="0" y="0"/>
                </a:moveTo>
                <a:lnTo>
                  <a:pt x="2426075" y="0"/>
                </a:lnTo>
                <a:lnTo>
                  <a:pt x="2426075" y="3780003"/>
                </a:lnTo>
                <a:lnTo>
                  <a:pt x="0" y="37800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3" name="TextBox 3"/>
          <p:cNvSpPr txBox="1"/>
          <p:nvPr/>
        </p:nvSpPr>
        <p:spPr>
          <a:xfrm>
            <a:off x="2672367" y="2048385"/>
            <a:ext cx="9706947" cy="1064394"/>
          </a:xfrm>
          <a:prstGeom prst="rect">
            <a:avLst/>
          </a:prstGeom>
        </p:spPr>
        <p:txBody>
          <a:bodyPr wrap="square" lIns="0" tIns="0" rIns="0" bIns="0" rtlCol="0" anchor="t">
            <a:spAutoFit/>
          </a:bodyPr>
          <a:lstStyle/>
          <a:p>
            <a:pPr algn="l">
              <a:lnSpc>
                <a:spcPts val="8265"/>
              </a:lnSpc>
            </a:pPr>
            <a:r>
              <a:rPr lang="en-US" sz="10331" dirty="0" err="1">
                <a:solidFill>
                  <a:srgbClr val="932C29"/>
                </a:solidFill>
                <a:latin typeface="Gulfs Display"/>
                <a:ea typeface="Gulfs Display"/>
                <a:cs typeface="Gulfs Display"/>
                <a:sym typeface="Gulfs Display"/>
              </a:rPr>
              <a:t>Implementasi</a:t>
            </a:r>
            <a:endParaRPr lang="en-US" sz="10331" dirty="0">
              <a:solidFill>
                <a:srgbClr val="932C29"/>
              </a:solidFill>
              <a:latin typeface="Gulfs Display"/>
              <a:ea typeface="Gulfs Display"/>
              <a:cs typeface="Gulfs Display"/>
              <a:sym typeface="Gulfs Display"/>
            </a:endParaRPr>
          </a:p>
        </p:txBody>
      </p:sp>
      <p:sp>
        <p:nvSpPr>
          <p:cNvPr id="4" name="TextBox 4"/>
          <p:cNvSpPr txBox="1"/>
          <p:nvPr/>
        </p:nvSpPr>
        <p:spPr>
          <a:xfrm>
            <a:off x="3627823" y="3163785"/>
            <a:ext cx="9706947" cy="1742232"/>
          </a:xfrm>
          <a:prstGeom prst="rect">
            <a:avLst/>
          </a:prstGeom>
        </p:spPr>
        <p:txBody>
          <a:bodyPr lIns="0" tIns="0" rIns="0" bIns="0" rtlCol="0" anchor="t">
            <a:spAutoFit/>
          </a:bodyPr>
          <a:lstStyle/>
          <a:p>
            <a:pPr algn="just">
              <a:lnSpc>
                <a:spcPts val="4617"/>
              </a:lnSpc>
            </a:pPr>
            <a:r>
              <a:rPr lang="en-US" sz="3298">
                <a:solidFill>
                  <a:srgbClr val="000000"/>
                </a:solidFill>
                <a:latin typeface="Lexend Deca"/>
                <a:ea typeface="Lexend Deca"/>
                <a:cs typeface="Lexend Deca"/>
                <a:sym typeface="Lexend Deca"/>
              </a:rPr>
              <a:t>Penjelasan fungsi dan potongan kode :</a:t>
            </a:r>
          </a:p>
          <a:p>
            <a:pPr algn="l">
              <a:lnSpc>
                <a:spcPts val="4617"/>
              </a:lnSpc>
            </a:pPr>
            <a:r>
              <a:rPr lang="en-US" sz="3298">
                <a:solidFill>
                  <a:srgbClr val="000000"/>
                </a:solidFill>
                <a:latin typeface="Lexend Deca"/>
                <a:ea typeface="Lexend Deca"/>
                <a:cs typeface="Lexend Deca"/>
                <a:sym typeface="Lexend Deca"/>
              </a:rPr>
              <a:t>6.Rekonstruksi Rute</a:t>
            </a:r>
          </a:p>
          <a:p>
            <a:pPr algn="l">
              <a:lnSpc>
                <a:spcPts val="4617"/>
              </a:lnSpc>
            </a:pPr>
            <a:endParaRPr lang="en-US" sz="3298">
              <a:solidFill>
                <a:srgbClr val="000000"/>
              </a:solidFill>
              <a:latin typeface="Lexend Deca"/>
              <a:ea typeface="Lexend Deca"/>
              <a:cs typeface="Lexend Deca"/>
              <a:sym typeface="Lexend Deca"/>
            </a:endParaRPr>
          </a:p>
        </p:txBody>
      </p:sp>
      <p:sp>
        <p:nvSpPr>
          <p:cNvPr id="5" name="Freeform 5"/>
          <p:cNvSpPr/>
          <p:nvPr/>
        </p:nvSpPr>
        <p:spPr>
          <a:xfrm rot="-1377331">
            <a:off x="11486674" y="2072961"/>
            <a:ext cx="1138755" cy="1138755"/>
          </a:xfrm>
          <a:custGeom>
            <a:avLst/>
            <a:gdLst/>
            <a:ahLst/>
            <a:cxnLst/>
            <a:rect l="l" t="t" r="r" b="b"/>
            <a:pathLst>
              <a:path w="1138755" h="1138755">
                <a:moveTo>
                  <a:pt x="0" y="0"/>
                </a:moveTo>
                <a:lnTo>
                  <a:pt x="1138755" y="0"/>
                </a:lnTo>
                <a:lnTo>
                  <a:pt x="1138755" y="1138755"/>
                </a:lnTo>
                <a:lnTo>
                  <a:pt x="0" y="11387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6" name="AutoShape 6"/>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7" name="AutoShape 7"/>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8" name="Freeform 8"/>
          <p:cNvSpPr/>
          <p:nvPr/>
        </p:nvSpPr>
        <p:spPr>
          <a:xfrm>
            <a:off x="3628197" y="4491987"/>
            <a:ext cx="7024459" cy="2907799"/>
          </a:xfrm>
          <a:custGeom>
            <a:avLst/>
            <a:gdLst/>
            <a:ahLst/>
            <a:cxnLst/>
            <a:rect l="l" t="t" r="r" b="b"/>
            <a:pathLst>
              <a:path w="7024459" h="2907799">
                <a:moveTo>
                  <a:pt x="0" y="0"/>
                </a:moveTo>
                <a:lnTo>
                  <a:pt x="7024459" y="0"/>
                </a:lnTo>
                <a:lnTo>
                  <a:pt x="7024459" y="2907799"/>
                </a:lnTo>
                <a:lnTo>
                  <a:pt x="0" y="2907799"/>
                </a:lnTo>
                <a:lnTo>
                  <a:pt x="0" y="0"/>
                </a:lnTo>
                <a:close/>
              </a:path>
            </a:pathLst>
          </a:custGeom>
          <a:blipFill>
            <a:blip r:embed="rId4"/>
            <a:stretch>
              <a:fillRect/>
            </a:stretch>
          </a:blipFill>
        </p:spPr>
        <p:txBody>
          <a:bodyPr/>
          <a:lstStyle/>
          <a:p>
            <a:endParaRPr lang="id-ID"/>
          </a:p>
        </p:txBody>
      </p:sp>
      <p:sp>
        <p:nvSpPr>
          <p:cNvPr id="9" name="TextBox 9"/>
          <p:cNvSpPr txBox="1"/>
          <p:nvPr/>
        </p:nvSpPr>
        <p:spPr>
          <a:xfrm>
            <a:off x="7921697" y="7580761"/>
            <a:ext cx="7373574" cy="2246953"/>
          </a:xfrm>
          <a:prstGeom prst="rect">
            <a:avLst/>
          </a:prstGeom>
        </p:spPr>
        <p:txBody>
          <a:bodyPr lIns="0" tIns="0" rIns="0" bIns="0" rtlCol="0" anchor="t">
            <a:spAutoFit/>
          </a:bodyPr>
          <a:lstStyle/>
          <a:p>
            <a:pPr algn="just">
              <a:lnSpc>
                <a:spcPts val="4528"/>
              </a:lnSpc>
            </a:pPr>
            <a:r>
              <a:rPr lang="en-US" sz="3234">
                <a:solidFill>
                  <a:srgbClr val="000000"/>
                </a:solidFill>
                <a:latin typeface="Lexend Deca"/>
                <a:ea typeface="Lexend Deca"/>
                <a:cs typeface="Lexend Deca"/>
                <a:sym typeface="Lexend Deca"/>
              </a:rPr>
              <a:t>Setelah proses perhitungan selesai, program melakukan rekonstruksi jalur untuk mengetahui urutan lokasi yang harus dilakui.</a:t>
            </a:r>
          </a:p>
        </p:txBody>
      </p:sp>
      <p:sp>
        <p:nvSpPr>
          <p:cNvPr id="10" name="TextBox 10"/>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12</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Freeform 2"/>
          <p:cNvSpPr/>
          <p:nvPr/>
        </p:nvSpPr>
        <p:spPr>
          <a:xfrm>
            <a:off x="1010657" y="1895985"/>
            <a:ext cx="2426075" cy="3780003"/>
          </a:xfrm>
          <a:custGeom>
            <a:avLst/>
            <a:gdLst/>
            <a:ahLst/>
            <a:cxnLst/>
            <a:rect l="l" t="t" r="r" b="b"/>
            <a:pathLst>
              <a:path w="2426075" h="3780003">
                <a:moveTo>
                  <a:pt x="0" y="0"/>
                </a:moveTo>
                <a:lnTo>
                  <a:pt x="2426075" y="0"/>
                </a:lnTo>
                <a:lnTo>
                  <a:pt x="2426075" y="3780003"/>
                </a:lnTo>
                <a:lnTo>
                  <a:pt x="0" y="37800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3" name="TextBox 3"/>
          <p:cNvSpPr txBox="1"/>
          <p:nvPr/>
        </p:nvSpPr>
        <p:spPr>
          <a:xfrm>
            <a:off x="2672367" y="2048385"/>
            <a:ext cx="9706947" cy="1064394"/>
          </a:xfrm>
          <a:prstGeom prst="rect">
            <a:avLst/>
          </a:prstGeom>
        </p:spPr>
        <p:txBody>
          <a:bodyPr wrap="square" lIns="0" tIns="0" rIns="0" bIns="0" rtlCol="0" anchor="t">
            <a:spAutoFit/>
          </a:bodyPr>
          <a:lstStyle/>
          <a:p>
            <a:pPr algn="l">
              <a:lnSpc>
                <a:spcPts val="8265"/>
              </a:lnSpc>
            </a:pPr>
            <a:r>
              <a:rPr lang="en-US" sz="10331" dirty="0" err="1">
                <a:solidFill>
                  <a:srgbClr val="932C29"/>
                </a:solidFill>
                <a:latin typeface="Gulfs Display"/>
                <a:ea typeface="Gulfs Display"/>
                <a:cs typeface="Gulfs Display"/>
                <a:sym typeface="Gulfs Display"/>
              </a:rPr>
              <a:t>Implementasi</a:t>
            </a:r>
            <a:endParaRPr lang="en-US" sz="10331" dirty="0">
              <a:solidFill>
                <a:srgbClr val="932C29"/>
              </a:solidFill>
              <a:latin typeface="Gulfs Display"/>
              <a:ea typeface="Gulfs Display"/>
              <a:cs typeface="Gulfs Display"/>
              <a:sym typeface="Gulfs Display"/>
            </a:endParaRPr>
          </a:p>
        </p:txBody>
      </p:sp>
      <p:sp>
        <p:nvSpPr>
          <p:cNvPr id="4" name="TextBox 4"/>
          <p:cNvSpPr txBox="1"/>
          <p:nvPr/>
        </p:nvSpPr>
        <p:spPr>
          <a:xfrm>
            <a:off x="3627823" y="3163785"/>
            <a:ext cx="9706947" cy="1742232"/>
          </a:xfrm>
          <a:prstGeom prst="rect">
            <a:avLst/>
          </a:prstGeom>
        </p:spPr>
        <p:txBody>
          <a:bodyPr lIns="0" tIns="0" rIns="0" bIns="0" rtlCol="0" anchor="t">
            <a:spAutoFit/>
          </a:bodyPr>
          <a:lstStyle/>
          <a:p>
            <a:pPr algn="just">
              <a:lnSpc>
                <a:spcPts val="4617"/>
              </a:lnSpc>
            </a:pPr>
            <a:r>
              <a:rPr lang="en-US" sz="3298">
                <a:solidFill>
                  <a:srgbClr val="000000"/>
                </a:solidFill>
                <a:latin typeface="Lexend Deca"/>
                <a:ea typeface="Lexend Deca"/>
                <a:cs typeface="Lexend Deca"/>
                <a:sym typeface="Lexend Deca"/>
              </a:rPr>
              <a:t>Penjelasan fungsi dan potongan kode :</a:t>
            </a:r>
          </a:p>
          <a:p>
            <a:pPr algn="l">
              <a:lnSpc>
                <a:spcPts val="4617"/>
              </a:lnSpc>
            </a:pPr>
            <a:r>
              <a:rPr lang="en-US" sz="3298">
                <a:solidFill>
                  <a:srgbClr val="000000"/>
                </a:solidFill>
                <a:latin typeface="Lexend Deca"/>
                <a:ea typeface="Lexend Deca"/>
                <a:cs typeface="Lexend Deca"/>
                <a:sym typeface="Lexend Deca"/>
              </a:rPr>
              <a:t>7.Penyimpanan Hasil ke File</a:t>
            </a:r>
          </a:p>
          <a:p>
            <a:pPr algn="l">
              <a:lnSpc>
                <a:spcPts val="4617"/>
              </a:lnSpc>
            </a:pPr>
            <a:endParaRPr lang="en-US" sz="3298">
              <a:solidFill>
                <a:srgbClr val="000000"/>
              </a:solidFill>
              <a:latin typeface="Lexend Deca"/>
              <a:ea typeface="Lexend Deca"/>
              <a:cs typeface="Lexend Deca"/>
              <a:sym typeface="Lexend Deca"/>
            </a:endParaRPr>
          </a:p>
        </p:txBody>
      </p:sp>
      <p:sp>
        <p:nvSpPr>
          <p:cNvPr id="5" name="Freeform 5"/>
          <p:cNvSpPr/>
          <p:nvPr/>
        </p:nvSpPr>
        <p:spPr>
          <a:xfrm rot="-1377331">
            <a:off x="11486674" y="2072961"/>
            <a:ext cx="1138755" cy="1138755"/>
          </a:xfrm>
          <a:custGeom>
            <a:avLst/>
            <a:gdLst/>
            <a:ahLst/>
            <a:cxnLst/>
            <a:rect l="l" t="t" r="r" b="b"/>
            <a:pathLst>
              <a:path w="1138755" h="1138755">
                <a:moveTo>
                  <a:pt x="0" y="0"/>
                </a:moveTo>
                <a:lnTo>
                  <a:pt x="1138755" y="0"/>
                </a:lnTo>
                <a:lnTo>
                  <a:pt x="1138755" y="1138755"/>
                </a:lnTo>
                <a:lnTo>
                  <a:pt x="0" y="11387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6" name="AutoShape 6"/>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7" name="AutoShape 7"/>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8" name="Freeform 8"/>
          <p:cNvSpPr/>
          <p:nvPr/>
        </p:nvSpPr>
        <p:spPr>
          <a:xfrm>
            <a:off x="3627823" y="4462526"/>
            <a:ext cx="10688706" cy="1361948"/>
          </a:xfrm>
          <a:custGeom>
            <a:avLst/>
            <a:gdLst/>
            <a:ahLst/>
            <a:cxnLst/>
            <a:rect l="l" t="t" r="r" b="b"/>
            <a:pathLst>
              <a:path w="10688706" h="1361948">
                <a:moveTo>
                  <a:pt x="0" y="0"/>
                </a:moveTo>
                <a:lnTo>
                  <a:pt x="10688706" y="0"/>
                </a:lnTo>
                <a:lnTo>
                  <a:pt x="10688706" y="1361948"/>
                </a:lnTo>
                <a:lnTo>
                  <a:pt x="0" y="1361948"/>
                </a:lnTo>
                <a:lnTo>
                  <a:pt x="0" y="0"/>
                </a:lnTo>
                <a:close/>
              </a:path>
            </a:pathLst>
          </a:custGeom>
          <a:blipFill>
            <a:blip r:embed="rId4"/>
            <a:stretch>
              <a:fillRect/>
            </a:stretch>
          </a:blipFill>
        </p:spPr>
        <p:txBody>
          <a:bodyPr/>
          <a:lstStyle/>
          <a:p>
            <a:endParaRPr lang="id-ID"/>
          </a:p>
        </p:txBody>
      </p:sp>
      <p:sp>
        <p:nvSpPr>
          <p:cNvPr id="9" name="TextBox 9"/>
          <p:cNvSpPr txBox="1"/>
          <p:nvPr/>
        </p:nvSpPr>
        <p:spPr>
          <a:xfrm>
            <a:off x="3627823" y="6058439"/>
            <a:ext cx="9462445" cy="2343453"/>
          </a:xfrm>
          <a:prstGeom prst="rect">
            <a:avLst/>
          </a:prstGeom>
        </p:spPr>
        <p:txBody>
          <a:bodyPr lIns="0" tIns="0" rIns="0" bIns="0" rtlCol="0" anchor="t">
            <a:spAutoFit/>
          </a:bodyPr>
          <a:lstStyle/>
          <a:p>
            <a:pPr algn="just">
              <a:lnSpc>
                <a:spcPts val="4708"/>
              </a:lnSpc>
            </a:pPr>
            <a:r>
              <a:rPr lang="en-US" sz="3363">
                <a:solidFill>
                  <a:srgbClr val="000000"/>
                </a:solidFill>
                <a:latin typeface="Lexend Deca"/>
                <a:ea typeface="Lexend Deca"/>
                <a:cs typeface="Lexend Deca"/>
                <a:sym typeface="Lexend Deca"/>
              </a:rPr>
              <a:t>Informasi yang disimpan meliputi lokasi tujuan, jarak pendek yang diperoleh, serta rute yang garus dilalui untuk mencapai lokasi tersebut</a:t>
            </a:r>
          </a:p>
        </p:txBody>
      </p:sp>
      <p:sp>
        <p:nvSpPr>
          <p:cNvPr id="10" name="TextBox 10"/>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13</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Freeform 2"/>
          <p:cNvSpPr/>
          <p:nvPr/>
        </p:nvSpPr>
        <p:spPr>
          <a:xfrm>
            <a:off x="1010657" y="1895985"/>
            <a:ext cx="2426075" cy="3780003"/>
          </a:xfrm>
          <a:custGeom>
            <a:avLst/>
            <a:gdLst/>
            <a:ahLst/>
            <a:cxnLst/>
            <a:rect l="l" t="t" r="r" b="b"/>
            <a:pathLst>
              <a:path w="2426075" h="3780003">
                <a:moveTo>
                  <a:pt x="0" y="0"/>
                </a:moveTo>
                <a:lnTo>
                  <a:pt x="2426075" y="0"/>
                </a:lnTo>
                <a:lnTo>
                  <a:pt x="2426075" y="3780003"/>
                </a:lnTo>
                <a:lnTo>
                  <a:pt x="0" y="37800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3" name="TextBox 3"/>
          <p:cNvSpPr txBox="1"/>
          <p:nvPr/>
        </p:nvSpPr>
        <p:spPr>
          <a:xfrm>
            <a:off x="2672368" y="2048385"/>
            <a:ext cx="9519632" cy="1064394"/>
          </a:xfrm>
          <a:prstGeom prst="rect">
            <a:avLst/>
          </a:prstGeom>
        </p:spPr>
        <p:txBody>
          <a:bodyPr wrap="square" lIns="0" tIns="0" rIns="0" bIns="0" rtlCol="0" anchor="t">
            <a:spAutoFit/>
          </a:bodyPr>
          <a:lstStyle/>
          <a:p>
            <a:pPr algn="l">
              <a:lnSpc>
                <a:spcPts val="8265"/>
              </a:lnSpc>
            </a:pPr>
            <a:r>
              <a:rPr lang="en-US" sz="10331" dirty="0" err="1">
                <a:solidFill>
                  <a:srgbClr val="932C29"/>
                </a:solidFill>
                <a:latin typeface="Gulfs Display"/>
                <a:ea typeface="Gulfs Display"/>
                <a:cs typeface="Gulfs Display"/>
                <a:sym typeface="Gulfs Display"/>
              </a:rPr>
              <a:t>Implementasi</a:t>
            </a:r>
            <a:endParaRPr lang="en-US" sz="10331" dirty="0">
              <a:solidFill>
                <a:srgbClr val="932C29"/>
              </a:solidFill>
              <a:latin typeface="Gulfs Display"/>
              <a:ea typeface="Gulfs Display"/>
              <a:cs typeface="Gulfs Display"/>
              <a:sym typeface="Gulfs Display"/>
            </a:endParaRPr>
          </a:p>
        </p:txBody>
      </p:sp>
      <p:sp>
        <p:nvSpPr>
          <p:cNvPr id="4" name="TextBox 4"/>
          <p:cNvSpPr txBox="1"/>
          <p:nvPr/>
        </p:nvSpPr>
        <p:spPr>
          <a:xfrm>
            <a:off x="3627823" y="3163785"/>
            <a:ext cx="9706947" cy="1742232"/>
          </a:xfrm>
          <a:prstGeom prst="rect">
            <a:avLst/>
          </a:prstGeom>
        </p:spPr>
        <p:txBody>
          <a:bodyPr lIns="0" tIns="0" rIns="0" bIns="0" rtlCol="0" anchor="t">
            <a:spAutoFit/>
          </a:bodyPr>
          <a:lstStyle/>
          <a:p>
            <a:pPr algn="just">
              <a:lnSpc>
                <a:spcPts val="4617"/>
              </a:lnSpc>
            </a:pPr>
            <a:r>
              <a:rPr lang="en-US" sz="3298">
                <a:solidFill>
                  <a:srgbClr val="000000"/>
                </a:solidFill>
                <a:latin typeface="Lexend Deca"/>
                <a:ea typeface="Lexend Deca"/>
                <a:cs typeface="Lexend Deca"/>
                <a:sym typeface="Lexend Deca"/>
              </a:rPr>
              <a:t>Penjelasan fungsi dan potongan kode :</a:t>
            </a:r>
          </a:p>
          <a:p>
            <a:pPr algn="l">
              <a:lnSpc>
                <a:spcPts val="4617"/>
              </a:lnSpc>
            </a:pPr>
            <a:r>
              <a:rPr lang="en-US" sz="3298">
                <a:solidFill>
                  <a:srgbClr val="000000"/>
                </a:solidFill>
                <a:latin typeface="Lexend Deca"/>
                <a:ea typeface="Lexend Deca"/>
                <a:cs typeface="Lexend Deca"/>
                <a:sym typeface="Lexend Deca"/>
              </a:rPr>
              <a:t>8.Visualisasi HTML</a:t>
            </a:r>
          </a:p>
          <a:p>
            <a:pPr algn="l">
              <a:lnSpc>
                <a:spcPts val="4617"/>
              </a:lnSpc>
            </a:pPr>
            <a:endParaRPr lang="en-US" sz="3298">
              <a:solidFill>
                <a:srgbClr val="000000"/>
              </a:solidFill>
              <a:latin typeface="Lexend Deca"/>
              <a:ea typeface="Lexend Deca"/>
              <a:cs typeface="Lexend Deca"/>
              <a:sym typeface="Lexend Deca"/>
            </a:endParaRPr>
          </a:p>
        </p:txBody>
      </p:sp>
      <p:sp>
        <p:nvSpPr>
          <p:cNvPr id="5" name="Freeform 5"/>
          <p:cNvSpPr/>
          <p:nvPr/>
        </p:nvSpPr>
        <p:spPr>
          <a:xfrm rot="-1377331">
            <a:off x="11486674" y="2072961"/>
            <a:ext cx="1138755" cy="1138755"/>
          </a:xfrm>
          <a:custGeom>
            <a:avLst/>
            <a:gdLst/>
            <a:ahLst/>
            <a:cxnLst/>
            <a:rect l="l" t="t" r="r" b="b"/>
            <a:pathLst>
              <a:path w="1138755" h="1138755">
                <a:moveTo>
                  <a:pt x="0" y="0"/>
                </a:moveTo>
                <a:lnTo>
                  <a:pt x="1138755" y="0"/>
                </a:lnTo>
                <a:lnTo>
                  <a:pt x="1138755" y="1138755"/>
                </a:lnTo>
                <a:lnTo>
                  <a:pt x="0" y="11387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d-ID"/>
          </a:p>
        </p:txBody>
      </p:sp>
      <p:sp>
        <p:nvSpPr>
          <p:cNvPr id="6" name="AutoShape 6"/>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7" name="AutoShape 7"/>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8" name="Freeform 8"/>
          <p:cNvSpPr/>
          <p:nvPr/>
        </p:nvSpPr>
        <p:spPr>
          <a:xfrm>
            <a:off x="3621922" y="4812893"/>
            <a:ext cx="12971060" cy="575692"/>
          </a:xfrm>
          <a:custGeom>
            <a:avLst/>
            <a:gdLst/>
            <a:ahLst/>
            <a:cxnLst/>
            <a:rect l="l" t="t" r="r" b="b"/>
            <a:pathLst>
              <a:path w="12971060" h="575692">
                <a:moveTo>
                  <a:pt x="0" y="0"/>
                </a:moveTo>
                <a:lnTo>
                  <a:pt x="12971060" y="0"/>
                </a:lnTo>
                <a:lnTo>
                  <a:pt x="12971060" y="575692"/>
                </a:lnTo>
                <a:lnTo>
                  <a:pt x="0" y="575692"/>
                </a:lnTo>
                <a:lnTo>
                  <a:pt x="0" y="0"/>
                </a:lnTo>
                <a:close/>
              </a:path>
            </a:pathLst>
          </a:custGeom>
          <a:blipFill>
            <a:blip r:embed="rId4"/>
            <a:stretch>
              <a:fillRect/>
            </a:stretch>
          </a:blipFill>
        </p:spPr>
        <p:txBody>
          <a:bodyPr/>
          <a:lstStyle/>
          <a:p>
            <a:endParaRPr lang="id-ID"/>
          </a:p>
        </p:txBody>
      </p:sp>
      <p:sp>
        <p:nvSpPr>
          <p:cNvPr id="9" name="TextBox 9"/>
          <p:cNvSpPr txBox="1"/>
          <p:nvPr/>
        </p:nvSpPr>
        <p:spPr>
          <a:xfrm>
            <a:off x="3627823" y="5609313"/>
            <a:ext cx="12727116" cy="2934003"/>
          </a:xfrm>
          <a:prstGeom prst="rect">
            <a:avLst/>
          </a:prstGeom>
        </p:spPr>
        <p:txBody>
          <a:bodyPr lIns="0" tIns="0" rIns="0" bIns="0" rtlCol="0" anchor="t">
            <a:spAutoFit/>
          </a:bodyPr>
          <a:lstStyle/>
          <a:p>
            <a:pPr algn="just">
              <a:lnSpc>
                <a:spcPts val="4708"/>
              </a:lnSpc>
            </a:pPr>
            <a:r>
              <a:rPr lang="en-US" sz="3363">
                <a:solidFill>
                  <a:srgbClr val="000000"/>
                </a:solidFill>
                <a:latin typeface="Lexend Deca"/>
                <a:ea typeface="Lexend Deca"/>
                <a:cs typeface="Lexend Deca"/>
                <a:sym typeface="Lexend Deca"/>
              </a:rPr>
              <a:t>Visualisasi dibuaat menggunakan fungsi writeVisualization(). Fungsi ini menghasilkan file HTML yang berisi tampilan graph interaktif lengkap dengan node, edege, bobot jarak, serta jalur terpendek yang di temukan oleh Algoritma Dijkstra</a:t>
            </a:r>
          </a:p>
        </p:txBody>
      </p:sp>
      <p:sp>
        <p:nvSpPr>
          <p:cNvPr id="10" name="TextBox 10"/>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14</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2DF"/>
        </a:solidFill>
        <a:effectLst/>
      </p:bgPr>
    </p:bg>
    <p:spTree>
      <p:nvGrpSpPr>
        <p:cNvPr id="1" name=""/>
        <p:cNvGrpSpPr/>
        <p:nvPr/>
      </p:nvGrpSpPr>
      <p:grpSpPr>
        <a:xfrm>
          <a:off x="0" y="0"/>
          <a:ext cx="0" cy="0"/>
          <a:chOff x="0" y="0"/>
          <a:chExt cx="0" cy="0"/>
        </a:xfrm>
      </p:grpSpPr>
      <p:sp>
        <p:nvSpPr>
          <p:cNvPr id="2" name="AutoShape 2"/>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3" name="AutoShape 3"/>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4" name="Freeform 4"/>
          <p:cNvSpPr/>
          <p:nvPr/>
        </p:nvSpPr>
        <p:spPr>
          <a:xfrm>
            <a:off x="5167915" y="5143500"/>
            <a:ext cx="7315200" cy="2008355"/>
          </a:xfrm>
          <a:custGeom>
            <a:avLst/>
            <a:gdLst/>
            <a:ahLst/>
            <a:cxnLst/>
            <a:rect l="l" t="t" r="r" b="b"/>
            <a:pathLst>
              <a:path w="7315200" h="2008355">
                <a:moveTo>
                  <a:pt x="0" y="0"/>
                </a:moveTo>
                <a:lnTo>
                  <a:pt x="7315200" y="0"/>
                </a:lnTo>
                <a:lnTo>
                  <a:pt x="7315200" y="2008355"/>
                </a:lnTo>
                <a:lnTo>
                  <a:pt x="0" y="200835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d-ID"/>
          </a:p>
        </p:txBody>
      </p:sp>
      <p:sp>
        <p:nvSpPr>
          <p:cNvPr id="5" name="TextBox 5"/>
          <p:cNvSpPr txBox="1"/>
          <p:nvPr/>
        </p:nvSpPr>
        <p:spPr>
          <a:xfrm>
            <a:off x="3404366" y="4044601"/>
            <a:ext cx="11918299" cy="1098899"/>
          </a:xfrm>
          <a:prstGeom prst="rect">
            <a:avLst/>
          </a:prstGeom>
        </p:spPr>
        <p:txBody>
          <a:bodyPr lIns="0" tIns="0" rIns="0" bIns="0" rtlCol="0" anchor="t">
            <a:spAutoFit/>
          </a:bodyPr>
          <a:lstStyle/>
          <a:p>
            <a:pPr algn="l">
              <a:lnSpc>
                <a:spcPts val="7705"/>
              </a:lnSpc>
            </a:pPr>
            <a:r>
              <a:rPr lang="en-US" sz="9631">
                <a:solidFill>
                  <a:srgbClr val="932C29"/>
                </a:solidFill>
                <a:latin typeface="Gulfs Display"/>
                <a:ea typeface="Gulfs Display"/>
                <a:cs typeface="Gulfs Display"/>
                <a:sym typeface="Gulfs Display"/>
              </a:rPr>
              <a:t>Pengujian Program</a:t>
            </a:r>
          </a:p>
        </p:txBody>
      </p:sp>
      <p:sp>
        <p:nvSpPr>
          <p:cNvPr id="6" name="TextBox 6"/>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15</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A7C5E1"/>
        </a:solidFill>
        <a:effectLst/>
      </p:bgPr>
    </p:bg>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1416645" cy="1593725"/>
          </a:xfrm>
        </p:grpSpPr>
        <p:sp>
          <p:nvSpPr>
            <p:cNvPr id="3" name="Freeform 3"/>
            <p:cNvSpPr/>
            <p:nvPr/>
          </p:nvSpPr>
          <p:spPr>
            <a:xfrm>
              <a:off x="0" y="0"/>
              <a:ext cx="1416645" cy="1593725"/>
            </a:xfrm>
            <a:custGeom>
              <a:avLst/>
              <a:gdLst/>
              <a:ahLst/>
              <a:cxnLst/>
              <a:rect l="l" t="t" r="r" b="b"/>
              <a:pathLst>
                <a:path w="1416645" h="1593725">
                  <a:moveTo>
                    <a:pt x="0" y="0"/>
                  </a:moveTo>
                  <a:lnTo>
                    <a:pt x="1416645" y="0"/>
                  </a:lnTo>
                  <a:lnTo>
                    <a:pt x="1416645" y="1593725"/>
                  </a:lnTo>
                  <a:lnTo>
                    <a:pt x="0" y="1593725"/>
                  </a:lnTo>
                  <a:close/>
                </a:path>
              </a:pathLst>
            </a:custGeom>
            <a:blipFill>
              <a:blip r:embed="rId2"/>
              <a:stretch>
                <a:fillRect l="-34374" r="-34374"/>
              </a:stretch>
            </a:blipFill>
          </p:spPr>
          <p:txBody>
            <a:bodyPr/>
            <a:lstStyle/>
            <a:p>
              <a:endParaRPr lang="id-ID"/>
            </a:p>
          </p:txBody>
        </p:sp>
      </p:grpSp>
      <p:sp>
        <p:nvSpPr>
          <p:cNvPr id="4" name="AutoShape 4"/>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5" name="AutoShape 5"/>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grpSp>
        <p:nvGrpSpPr>
          <p:cNvPr id="6" name="Group 6"/>
          <p:cNvGrpSpPr/>
          <p:nvPr/>
        </p:nvGrpSpPr>
        <p:grpSpPr>
          <a:xfrm>
            <a:off x="0" y="3226482"/>
            <a:ext cx="276174" cy="3086100"/>
            <a:chOff x="0" y="0"/>
            <a:chExt cx="72737" cy="812800"/>
          </a:xfrm>
        </p:grpSpPr>
        <p:sp>
          <p:nvSpPr>
            <p:cNvPr id="7" name="Freeform 7"/>
            <p:cNvSpPr/>
            <p:nvPr/>
          </p:nvSpPr>
          <p:spPr>
            <a:xfrm>
              <a:off x="0" y="0"/>
              <a:ext cx="72737" cy="812800"/>
            </a:xfrm>
            <a:custGeom>
              <a:avLst/>
              <a:gdLst/>
              <a:ahLst/>
              <a:cxnLst/>
              <a:rect l="l" t="t" r="r" b="b"/>
              <a:pathLst>
                <a:path w="72737" h="812800">
                  <a:moveTo>
                    <a:pt x="0" y="0"/>
                  </a:moveTo>
                  <a:lnTo>
                    <a:pt x="72737" y="0"/>
                  </a:lnTo>
                  <a:lnTo>
                    <a:pt x="72737" y="812800"/>
                  </a:lnTo>
                  <a:lnTo>
                    <a:pt x="0" y="812800"/>
                  </a:lnTo>
                  <a:close/>
                </a:path>
              </a:pathLst>
            </a:custGeom>
            <a:solidFill>
              <a:srgbClr val="EEF2DF"/>
            </a:solidFill>
          </p:spPr>
          <p:txBody>
            <a:bodyPr/>
            <a:lstStyle/>
            <a:p>
              <a:endParaRPr lang="id-ID"/>
            </a:p>
          </p:txBody>
        </p:sp>
        <p:sp>
          <p:nvSpPr>
            <p:cNvPr id="8" name="TextBox 8"/>
            <p:cNvSpPr txBox="1"/>
            <p:nvPr/>
          </p:nvSpPr>
          <p:spPr>
            <a:xfrm>
              <a:off x="0" y="-47625"/>
              <a:ext cx="72737" cy="860425"/>
            </a:xfrm>
            <a:prstGeom prst="rect">
              <a:avLst/>
            </a:prstGeom>
          </p:spPr>
          <p:txBody>
            <a:bodyPr lIns="50800" tIns="50800" rIns="50800" bIns="50800" rtlCol="0" anchor="ctr"/>
            <a:lstStyle/>
            <a:p>
              <a:pPr algn="ctr">
                <a:lnSpc>
                  <a:spcPts val="3500"/>
                </a:lnSpc>
              </a:pPr>
              <a:endParaRPr/>
            </a:p>
          </p:txBody>
        </p:sp>
      </p:grpSp>
      <p:sp>
        <p:nvSpPr>
          <p:cNvPr id="9" name="TextBox 9"/>
          <p:cNvSpPr txBox="1"/>
          <p:nvPr/>
        </p:nvSpPr>
        <p:spPr>
          <a:xfrm>
            <a:off x="1028700" y="2858008"/>
            <a:ext cx="7108602" cy="1098899"/>
          </a:xfrm>
          <a:prstGeom prst="rect">
            <a:avLst/>
          </a:prstGeom>
        </p:spPr>
        <p:txBody>
          <a:bodyPr lIns="0" tIns="0" rIns="0" bIns="0" rtlCol="0" anchor="t">
            <a:spAutoFit/>
          </a:bodyPr>
          <a:lstStyle/>
          <a:p>
            <a:pPr algn="l">
              <a:lnSpc>
                <a:spcPts val="7705"/>
              </a:lnSpc>
            </a:pPr>
            <a:r>
              <a:rPr lang="en-US" sz="9631">
                <a:solidFill>
                  <a:srgbClr val="932C29"/>
                </a:solidFill>
                <a:latin typeface="Gulfs Display"/>
                <a:ea typeface="Gulfs Display"/>
                <a:cs typeface="Gulfs Display"/>
                <a:sym typeface="Gulfs Display"/>
              </a:rPr>
              <a:t>Kesimpulan</a:t>
            </a:r>
          </a:p>
        </p:txBody>
      </p:sp>
      <p:sp>
        <p:nvSpPr>
          <p:cNvPr id="10" name="TextBox 10"/>
          <p:cNvSpPr txBox="1"/>
          <p:nvPr/>
        </p:nvSpPr>
        <p:spPr>
          <a:xfrm>
            <a:off x="15068394" y="1235623"/>
            <a:ext cx="2190906" cy="422274"/>
          </a:xfrm>
          <a:prstGeom prst="rect">
            <a:avLst/>
          </a:prstGeom>
        </p:spPr>
        <p:txBody>
          <a:bodyPr lIns="0" tIns="0" rIns="0" bIns="0" rtlCol="0" anchor="t">
            <a:spAutoFit/>
          </a:bodyPr>
          <a:lstStyle/>
          <a:p>
            <a:pPr algn="r">
              <a:lnSpc>
                <a:spcPts val="3500"/>
              </a:lnSpc>
            </a:pPr>
            <a:r>
              <a:rPr lang="en-US" sz="2500">
                <a:solidFill>
                  <a:srgbClr val="000000"/>
                </a:solidFill>
                <a:latin typeface="Lexend Deca"/>
                <a:ea typeface="Lexend Deca"/>
                <a:cs typeface="Lexend Deca"/>
                <a:sym typeface="Lexend Deca"/>
              </a:rPr>
              <a:t>16</a:t>
            </a:r>
          </a:p>
        </p:txBody>
      </p:sp>
      <p:sp>
        <p:nvSpPr>
          <p:cNvPr id="11" name="TextBox 11"/>
          <p:cNvSpPr txBox="1"/>
          <p:nvPr/>
        </p:nvSpPr>
        <p:spPr>
          <a:xfrm>
            <a:off x="1028700" y="4198104"/>
            <a:ext cx="7697261" cy="4928726"/>
          </a:xfrm>
          <a:prstGeom prst="rect">
            <a:avLst/>
          </a:prstGeom>
        </p:spPr>
        <p:txBody>
          <a:bodyPr lIns="0" tIns="0" rIns="0" bIns="0" rtlCol="0" anchor="t">
            <a:spAutoFit/>
          </a:bodyPr>
          <a:lstStyle/>
          <a:p>
            <a:pPr algn="just">
              <a:lnSpc>
                <a:spcPts val="3962"/>
              </a:lnSpc>
            </a:pPr>
            <a:r>
              <a:rPr lang="en-US" sz="2830">
                <a:solidFill>
                  <a:srgbClr val="000000"/>
                </a:solidFill>
                <a:latin typeface="Lexend Deca"/>
                <a:ea typeface="Lexend Deca"/>
                <a:cs typeface="Lexend Deca"/>
                <a:sym typeface="Lexend Deca"/>
              </a:rPr>
              <a:t>Dapat disimpulkan bahwa Algoritma Dijkstra yang diterapkan pada program mampu menentukan jalur terpendek dari lokasi tujuan dengan mempertimbangkan bobot jarak pada setiap ruas jalan. Hasil pengujian menunjukkan bahwa program dapat menghitung jarak minimum secara akurat dan memberikan informasi jarak terpendek ke seluruh lokasi yang terhubung dengan titik awal pengiriman </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A7C5E1"/>
        </a:solidFill>
        <a:effectLst/>
      </p:bgPr>
    </p:bg>
    <p:spTree>
      <p:nvGrpSpPr>
        <p:cNvPr id="1" name=""/>
        <p:cNvGrpSpPr/>
        <p:nvPr/>
      </p:nvGrpSpPr>
      <p:grpSpPr>
        <a:xfrm>
          <a:off x="0" y="0"/>
          <a:ext cx="0" cy="0"/>
          <a:chOff x="0" y="0"/>
          <a:chExt cx="0" cy="0"/>
        </a:xfrm>
      </p:grpSpPr>
      <p:sp>
        <p:nvSpPr>
          <p:cNvPr id="2" name="TextBox 2"/>
          <p:cNvSpPr txBox="1"/>
          <p:nvPr/>
        </p:nvSpPr>
        <p:spPr>
          <a:xfrm rot="-588375">
            <a:off x="1844195" y="2069660"/>
            <a:ext cx="15206863" cy="3847528"/>
          </a:xfrm>
          <a:prstGeom prst="rect">
            <a:avLst/>
          </a:prstGeom>
        </p:spPr>
        <p:txBody>
          <a:bodyPr wrap="square" lIns="0" tIns="0" rIns="0" bIns="0" rtlCol="0" anchor="t">
            <a:spAutoFit/>
          </a:bodyPr>
          <a:lstStyle/>
          <a:p>
            <a:pPr algn="ctr">
              <a:lnSpc>
                <a:spcPts val="30009"/>
              </a:lnSpc>
            </a:pPr>
            <a:r>
              <a:rPr lang="en-US" sz="37512" dirty="0">
                <a:solidFill>
                  <a:srgbClr val="EEF2DF"/>
                </a:solidFill>
                <a:latin typeface="Gulfs Display"/>
                <a:ea typeface="Gulfs Display"/>
                <a:cs typeface="Gulfs Display"/>
                <a:sym typeface="Gulfs Display"/>
              </a:rPr>
              <a:t>Thank</a:t>
            </a:r>
          </a:p>
        </p:txBody>
      </p:sp>
      <p:sp>
        <p:nvSpPr>
          <p:cNvPr id="3" name="TextBox 3"/>
          <p:cNvSpPr txBox="1"/>
          <p:nvPr/>
        </p:nvSpPr>
        <p:spPr>
          <a:xfrm rot="-588375">
            <a:off x="2596614" y="4433678"/>
            <a:ext cx="14082317" cy="3847528"/>
          </a:xfrm>
          <a:prstGeom prst="rect">
            <a:avLst/>
          </a:prstGeom>
        </p:spPr>
        <p:txBody>
          <a:bodyPr lIns="0" tIns="0" rIns="0" bIns="0" rtlCol="0" anchor="t">
            <a:spAutoFit/>
          </a:bodyPr>
          <a:lstStyle/>
          <a:p>
            <a:pPr algn="ctr">
              <a:lnSpc>
                <a:spcPts val="30009"/>
              </a:lnSpc>
            </a:pPr>
            <a:r>
              <a:rPr lang="en-US" sz="37512" dirty="0">
                <a:solidFill>
                  <a:srgbClr val="932C29"/>
                </a:solidFill>
                <a:latin typeface="Gulfs Display"/>
                <a:ea typeface="Gulfs Display"/>
                <a:cs typeface="Gulfs Display"/>
                <a:sym typeface="Gulfs Display"/>
              </a:rPr>
              <a:t>You</a:t>
            </a:r>
          </a:p>
        </p:txBody>
      </p:sp>
      <p:sp>
        <p:nvSpPr>
          <p:cNvPr id="4" name="AutoShape 4"/>
          <p:cNvSpPr/>
          <p:nvPr/>
        </p:nvSpPr>
        <p:spPr>
          <a:xfrm>
            <a:off x="1028700" y="103822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5" name="AutoShape 5"/>
          <p:cNvSpPr/>
          <p:nvPr/>
        </p:nvSpPr>
        <p:spPr>
          <a:xfrm>
            <a:off x="1028700" y="1895985"/>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6" name="AutoShape 6"/>
          <p:cNvSpPr/>
          <p:nvPr/>
        </p:nvSpPr>
        <p:spPr>
          <a:xfrm>
            <a:off x="1028700" y="8381490"/>
            <a:ext cx="16230600" cy="0"/>
          </a:xfrm>
          <a:prstGeom prst="line">
            <a:avLst/>
          </a:prstGeom>
          <a:ln w="9525" cap="rnd">
            <a:solidFill>
              <a:srgbClr val="000000"/>
            </a:solidFill>
            <a:prstDash val="solid"/>
            <a:headEnd type="none" w="sm" len="sm"/>
            <a:tailEnd type="none" w="sm" len="sm"/>
          </a:ln>
        </p:spPr>
        <p:txBody>
          <a:bodyPr/>
          <a:lstStyle/>
          <a:p>
            <a:endParaRPr lang="id-ID"/>
          </a:p>
        </p:txBody>
      </p:sp>
      <p:sp>
        <p:nvSpPr>
          <p:cNvPr id="7" name="AutoShape 7"/>
          <p:cNvSpPr/>
          <p:nvPr/>
        </p:nvSpPr>
        <p:spPr>
          <a:xfrm>
            <a:off x="1028700" y="9239250"/>
            <a:ext cx="16230600" cy="0"/>
          </a:xfrm>
          <a:prstGeom prst="line">
            <a:avLst/>
          </a:prstGeom>
          <a:ln w="9525" cap="rnd">
            <a:solidFill>
              <a:srgbClr val="000000"/>
            </a:solidFill>
            <a:prstDash val="solid"/>
            <a:headEnd type="none" w="sm" len="sm"/>
            <a:tailEnd type="none" w="sm" len="sm"/>
          </a:ln>
        </p:spPr>
        <p:txBody>
          <a:bodyPr/>
          <a:lstStyle/>
          <a:p>
            <a:endParaRPr lang="id-ID"/>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575</Words>
  <Application>Microsoft Office PowerPoint</Application>
  <PresentationFormat>Custom</PresentationFormat>
  <Paragraphs>110</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Gulfs Display</vt:lpstr>
      <vt:lpstr>Calibri</vt:lpstr>
      <vt:lpstr>Lexend Deca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Red Modern Bold Pitch Deck Presentation</dc:title>
  <cp:lastModifiedBy>Muhammad Ihsan Anwar</cp:lastModifiedBy>
  <cp:revision>5</cp:revision>
  <dcterms:created xsi:type="dcterms:W3CDTF">2006-08-16T00:00:00Z</dcterms:created>
  <dcterms:modified xsi:type="dcterms:W3CDTF">2026-06-07T11:51:19Z</dcterms:modified>
  <dc:identifier>DAHLPK62-Yw</dc:identifier>
</cp:coreProperties>
</file>